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handoutMasterIdLst>
    <p:handoutMasterId r:id="rId20"/>
  </p:handoutMasterIdLst>
  <p:sldIdLst>
    <p:sldId id="345" r:id="rId5"/>
    <p:sldId id="519" r:id="rId6"/>
    <p:sldId id="520" r:id="rId7"/>
    <p:sldId id="442" r:id="rId8"/>
    <p:sldId id="526" r:id="rId9"/>
    <p:sldId id="527" r:id="rId10"/>
    <p:sldId id="528" r:id="rId11"/>
    <p:sldId id="522" r:id="rId12"/>
    <p:sldId id="516" r:id="rId13"/>
    <p:sldId id="518" r:id="rId14"/>
    <p:sldId id="523" r:id="rId15"/>
    <p:sldId id="525" r:id="rId16"/>
    <p:sldId id="524" r:id="rId17"/>
    <p:sldId id="304" r:id="rId18"/>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ommatim"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a:srgbClr val="808000"/>
    <a:srgbClr val="660066"/>
    <a:srgbClr val="996600"/>
    <a:srgbClr val="990099"/>
    <a:srgbClr val="660033"/>
    <a:srgbClr val="666699"/>
    <a:srgbClr val="0066CC"/>
    <a:srgbClr val="009900"/>
    <a:srgbClr val="33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88875" autoAdjust="0"/>
  </p:normalViewPr>
  <p:slideViewPr>
    <p:cSldViewPr showGuides="1">
      <p:cViewPr varScale="1">
        <p:scale>
          <a:sx n="98" d="100"/>
          <a:sy n="98" d="100"/>
        </p:scale>
        <p:origin x="2028" y="120"/>
      </p:cViewPr>
      <p:guideLst>
        <p:guide orient="horz"/>
        <p:guide/>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55" d="100"/>
          <a:sy n="55" d="100"/>
        </p:scale>
        <p:origin x="-2802"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671"/>
          </a:xfrm>
          <a:prstGeom prst="rect">
            <a:avLst/>
          </a:prstGeom>
        </p:spPr>
        <p:txBody>
          <a:bodyPr vert="horz" lIns="93177" tIns="46589" rIns="93177" bIns="46589"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sz="quarter" idx="1"/>
          </p:nvPr>
        </p:nvSpPr>
        <p:spPr>
          <a:xfrm>
            <a:off x="3849862" y="0"/>
            <a:ext cx="2946275" cy="496671"/>
          </a:xfrm>
          <a:prstGeom prst="rect">
            <a:avLst/>
          </a:prstGeom>
        </p:spPr>
        <p:txBody>
          <a:bodyPr vert="horz" wrap="square" lIns="93177" tIns="46589" rIns="93177" bIns="46589" numCol="1" anchor="t" anchorCtr="0" compatLnSpc="1">
            <a:prstTxWarp prst="textNoShape">
              <a:avLst/>
            </a:prstTxWarp>
          </a:bodyPr>
          <a:lstStyle>
            <a:lvl1pPr algn="r">
              <a:defRPr sz="1200">
                <a:latin typeface="Cambria" pitchFamily="18" charset="0"/>
              </a:defRPr>
            </a:lvl1pPr>
          </a:lstStyle>
          <a:p>
            <a:pPr>
              <a:defRPr/>
            </a:pPr>
            <a:fld id="{738C2361-B388-49DF-8924-1AC990E56F84}" type="datetime1">
              <a:rPr lang="en-US"/>
              <a:pPr>
                <a:defRPr/>
              </a:pPr>
              <a:t>07/03/2025</a:t>
            </a:fld>
            <a:endParaRPr lang="en-US" dirty="0"/>
          </a:p>
        </p:txBody>
      </p:sp>
      <p:sp>
        <p:nvSpPr>
          <p:cNvPr id="4" name="Footer Placeholder 3"/>
          <p:cNvSpPr>
            <a:spLocks noGrp="1"/>
          </p:cNvSpPr>
          <p:nvPr>
            <p:ph type="ftr" sz="quarter" idx="2"/>
          </p:nvPr>
        </p:nvSpPr>
        <p:spPr>
          <a:xfrm>
            <a:off x="0" y="9428272"/>
            <a:ext cx="2946275" cy="4966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5" name="Slide Number Placeholder 4"/>
          <p:cNvSpPr>
            <a:spLocks noGrp="1"/>
          </p:cNvSpPr>
          <p:nvPr>
            <p:ph type="sldNum" sz="quarter" idx="3"/>
          </p:nvPr>
        </p:nvSpPr>
        <p:spPr>
          <a:xfrm>
            <a:off x="3849862" y="9428272"/>
            <a:ext cx="2946275" cy="496671"/>
          </a:xfrm>
          <a:prstGeom prst="rect">
            <a:avLst/>
          </a:prstGeom>
        </p:spPr>
        <p:txBody>
          <a:bodyPr vert="horz" wrap="square" lIns="93177" tIns="46589" rIns="93177" bIns="46589" numCol="1" anchor="b" anchorCtr="0" compatLnSpc="1">
            <a:prstTxWarp prst="textNoShape">
              <a:avLst/>
            </a:prstTxWarp>
          </a:bodyPr>
          <a:lstStyle>
            <a:lvl1pPr algn="r">
              <a:defRPr sz="1200">
                <a:latin typeface="Cambria" pitchFamily="18" charset="0"/>
              </a:defRPr>
            </a:lvl1pPr>
          </a:lstStyle>
          <a:p>
            <a:pPr>
              <a:defRPr/>
            </a:pPr>
            <a:fld id="{76F39B46-A72B-4AE2-98E0-C43F765A6C65}" type="slidenum">
              <a:rPr lang="en-US"/>
              <a:pPr>
                <a:defRPr/>
              </a:pPr>
              <a:t>‹#›</a:t>
            </a:fld>
            <a:endParaRPr lang="en-US" dirty="0"/>
          </a:p>
        </p:txBody>
      </p:sp>
    </p:spTree>
    <p:extLst>
      <p:ext uri="{BB962C8B-B14F-4D97-AF65-F5344CB8AC3E}">
        <p14:creationId xmlns:p14="http://schemas.microsoft.com/office/powerpoint/2010/main" val="25283042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671"/>
          </a:xfrm>
          <a:prstGeom prst="rect">
            <a:avLst/>
          </a:prstGeom>
        </p:spPr>
        <p:txBody>
          <a:bodyPr vert="horz" lIns="93177" tIns="46589" rIns="93177" bIns="46589"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49862" y="0"/>
            <a:ext cx="2946275" cy="496671"/>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pPr>
              <a:defRPr/>
            </a:pPr>
            <a:fld id="{E74724CD-A5BC-4FFD-A3AD-C61EDDD7CF55}" type="datetime1">
              <a:rPr lang="en-US"/>
              <a:pPr>
                <a:defRPr/>
              </a:pPr>
              <a:t>07/03/2025</a:t>
            </a:fld>
            <a:endParaRPr lang="en-US"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680383" y="4715831"/>
            <a:ext cx="5436909" cy="4466649"/>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8272"/>
            <a:ext cx="2946275" cy="4966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49862" y="9428272"/>
            <a:ext cx="2946275" cy="496671"/>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pPr>
              <a:defRPr/>
            </a:pPr>
            <a:fld id="{ED0EDFC4-E217-430D-8F20-4A2866AA50EC}" type="slidenum">
              <a:rPr lang="en-US"/>
              <a:pPr>
                <a:defRPr/>
              </a:pPr>
              <a:t>‹#›</a:t>
            </a:fld>
            <a:endParaRPr lang="en-US" dirty="0"/>
          </a:p>
        </p:txBody>
      </p:sp>
    </p:spTree>
    <p:extLst>
      <p:ext uri="{BB962C8B-B14F-4D97-AF65-F5344CB8AC3E}">
        <p14:creationId xmlns:p14="http://schemas.microsoft.com/office/powerpoint/2010/main" val="2192308239"/>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S PGothic" pitchFamily="34" charset="-128"/>
        <a:cs typeface="MS PGothic" pitchFamily="34"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S PGothic" pitchFamily="34" charset="-128"/>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ＭＳ Ｐゴシック" pitchFamily="-108" charset="-128"/>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pPr>
              <a:defRPr/>
            </a:pPr>
            <a:endParaRPr lang="en-US" dirty="0"/>
          </a:p>
        </p:txBody>
      </p:sp>
      <p:sp>
        <p:nvSpPr>
          <p:cNvPr id="5" name="Slide Number Placeholder 4"/>
          <p:cNvSpPr>
            <a:spLocks noGrp="1"/>
          </p:cNvSpPr>
          <p:nvPr>
            <p:ph type="sldNum" sz="quarter" idx="11"/>
          </p:nvPr>
        </p:nvSpPr>
        <p:spPr/>
        <p:txBody>
          <a:bodyPr/>
          <a:lstStyle/>
          <a:p>
            <a:pPr>
              <a:defRPr/>
            </a:pPr>
            <a:fld id="{ED0EDFC4-E217-430D-8F20-4A2866AA50EC}" type="slidenum">
              <a:rPr lang="en-US" smtClean="0"/>
              <a:pPr>
                <a:defRPr/>
              </a:pPr>
              <a:t>1</a:t>
            </a:fld>
            <a:endParaRPr lang="en-US" dirty="0"/>
          </a:p>
        </p:txBody>
      </p:sp>
    </p:spTree>
    <p:extLst>
      <p:ext uri="{BB962C8B-B14F-4D97-AF65-F5344CB8AC3E}">
        <p14:creationId xmlns:p14="http://schemas.microsoft.com/office/powerpoint/2010/main" val="371935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9" name="Subtitle 2"/>
          <p:cNvSpPr>
            <a:spLocks noGrp="1"/>
          </p:cNvSpPr>
          <p:nvPr>
            <p:ph type="subTitle" idx="1"/>
          </p:nvPr>
        </p:nvSpPr>
        <p:spPr>
          <a:xfrm>
            <a:off x="1371600" y="3886200"/>
            <a:ext cx="6400800" cy="4572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258444901"/>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58200" y="6477000"/>
            <a:ext cx="2159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D:\Lavanya\Lavanya-Work\Collaterals\Presentations\New-PPT-082211\header.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533400" y="-83127"/>
            <a:ext cx="8534400" cy="692727"/>
          </a:xfrm>
        </p:spPr>
        <p:txBody>
          <a:bodyPr>
            <a:normAutofit/>
          </a:bodyPr>
          <a:lstStyle>
            <a:lvl1pPr algn="l">
              <a:defRPr lang="en-US" sz="2400" b="1" kern="1200" dirty="0" smtClean="0">
                <a:solidFill>
                  <a:schemeClr val="bg1"/>
                </a:solidFill>
                <a:latin typeface="Malgun Gothic" pitchFamily="34" charset="-127"/>
                <a:ea typeface="Malgun Gothic" pitchFamily="34" charset="-127"/>
                <a:cs typeface="ＭＳ Ｐゴシック" charset="0"/>
              </a:defRPr>
            </a:lvl1pPr>
          </a:lstStyle>
          <a:p>
            <a:r>
              <a:rPr lang="en-US" dirty="0"/>
              <a:t>Click to edit Master title style</a:t>
            </a:r>
          </a:p>
        </p:txBody>
      </p:sp>
      <p:sp>
        <p:nvSpPr>
          <p:cNvPr id="11" name="Content Placeholder 2"/>
          <p:cNvSpPr>
            <a:spLocks noGrp="1"/>
          </p:cNvSpPr>
          <p:nvPr>
            <p:ph idx="1"/>
          </p:nvPr>
        </p:nvSpPr>
        <p:spPr>
          <a:xfrm>
            <a:off x="76200" y="731837"/>
            <a:ext cx="8229600" cy="4525963"/>
          </a:xfrm>
          <a:ln>
            <a:noFill/>
          </a:ln>
        </p:spPr>
        <p:txBody>
          <a:bodyPr/>
          <a:lstStyle>
            <a:lvl1pPr marL="342900" indent="-342900">
              <a:lnSpc>
                <a:spcPct val="100000"/>
              </a:lnSpc>
              <a:spcBef>
                <a:spcPts val="1400"/>
              </a:spcBef>
              <a:buFont typeface="Wingdings" pitchFamily="2" charset="2"/>
              <a:buChar char="§"/>
              <a:defRPr/>
            </a:lvl1pPr>
            <a:lvl2pPr marL="742950" indent="-285750">
              <a:lnSpc>
                <a:spcPct val="150000"/>
              </a:lnSpc>
              <a:buSzPct val="80000"/>
              <a:buFont typeface="Wingdings" pitchFamily="2" charset="2"/>
              <a:buChar char="§"/>
              <a:defRPr>
                <a:latin typeface="Malgun Gothic" pitchFamily="34" charset="-127"/>
                <a:ea typeface="Malgun Gothic" pitchFamily="34" charset="-127"/>
              </a:defRPr>
            </a:lvl2pPr>
            <a:lvl3pPr marL="1143000" indent="-228600">
              <a:buSzPct val="60000"/>
              <a:buFont typeface="Wingdings" pitchFamily="2" charset="2"/>
              <a:buChar char="§"/>
              <a:defRPr>
                <a:latin typeface="Malgun Gothic" pitchFamily="34" charset="-127"/>
                <a:ea typeface="Malgun Gothic" pitchFamily="34" charset="-127"/>
              </a:defRPr>
            </a:lvl3pPr>
            <a:lvl4pPr marL="1600200" indent="-228600">
              <a:buFont typeface="Arial" pitchFamily="34" charset="0"/>
              <a:buChar char="•"/>
              <a:defRPr>
                <a:latin typeface="Malgun Gothic" pitchFamily="34" charset="-127"/>
                <a:ea typeface="Malgun Gothic" pitchFamily="34" charset="-127"/>
              </a:defRPr>
            </a:lvl4pPr>
            <a:lvl5pPr marL="2057400" indent="-228600">
              <a:buSzPct val="80000"/>
              <a:buFont typeface="Arial" pitchFamily="34" charset="0"/>
              <a:buChar char="•"/>
              <a:defRPr>
                <a:latin typeface="Malgun Gothic" pitchFamily="34" charset="-127"/>
                <a:ea typeface="Malgun Gothic" pitchFamily="34" charset="-127"/>
              </a:defRPr>
            </a:lvl5pPr>
          </a:lstStyle>
          <a:p>
            <a:pPr lvl="0"/>
            <a:r>
              <a:rPr lang="en-US" dirty="0"/>
              <a:t>Click to edit Master text styles</a:t>
            </a:r>
          </a:p>
          <a:p>
            <a:pPr lvl="1"/>
            <a:r>
              <a:rPr lang="en-US" dirty="0"/>
              <a:t>Second levelfffffffffffffffffffffffffffffffffffffffffffffffffffffffffffffffffffffffffffffffffffffffffffffffffffffffffffffffff</a:t>
            </a:r>
          </a:p>
          <a:p>
            <a:pPr lvl="1"/>
            <a:r>
              <a:rPr lang="en-US" dirty="0" err="1"/>
              <a:t>sfssfsf</a:t>
            </a:r>
            <a:endParaRPr lang="en-US" dirty="0"/>
          </a:p>
          <a:p>
            <a:pPr lvl="2"/>
            <a:r>
              <a:rPr lang="en-US" dirty="0"/>
              <a:t>Third level</a:t>
            </a:r>
          </a:p>
          <a:p>
            <a:pPr lvl="3"/>
            <a:r>
              <a:rPr lang="en-US" dirty="0"/>
              <a:t>Fourth level</a:t>
            </a:r>
          </a:p>
          <a:p>
            <a:pPr lvl="4"/>
            <a:r>
              <a:rPr lang="en-US" dirty="0"/>
              <a:t>Fifth level</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4"/>
            <a:br>
              <a:rPr lang="en-US" dirty="0"/>
            </a:br>
            <a:endParaRPr lang="en-US" dirty="0"/>
          </a:p>
        </p:txBody>
      </p:sp>
      <p:sp>
        <p:nvSpPr>
          <p:cNvPr id="6" name="Date Placeholder 4"/>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8" name="Slide Number Placeholder 6"/>
          <p:cNvSpPr>
            <a:spLocks noGrp="1"/>
          </p:cNvSpPr>
          <p:nvPr>
            <p:ph type="sldNum" sz="quarter" idx="12"/>
          </p:nvPr>
        </p:nvSpPr>
        <p:spPr>
          <a:xfrm>
            <a:off x="6858000" y="6400800"/>
            <a:ext cx="2133600" cy="365125"/>
          </a:xfrm>
        </p:spPr>
        <p:txBody>
          <a:bodyPr/>
          <a:lstStyle>
            <a:lvl1pPr>
              <a:defRPr sz="1400"/>
            </a:lvl1pPr>
          </a:lstStyle>
          <a:p>
            <a:pPr>
              <a:defRPr/>
            </a:pPr>
            <a:fld id="{174C6DE3-F3EF-42B8-B6CF-DA55CA4DF251}" type="slidenum">
              <a:rPr lang="en-US"/>
              <a:pPr>
                <a:defRPr/>
              </a:pPr>
              <a:t>‹#›</a:t>
            </a:fld>
            <a:endParaRPr lang="en-US" dirty="0"/>
          </a:p>
        </p:txBody>
      </p:sp>
    </p:spTree>
    <p:extLst>
      <p:ext uri="{BB962C8B-B14F-4D97-AF65-F5344CB8AC3E}">
        <p14:creationId xmlns:p14="http://schemas.microsoft.com/office/powerpoint/2010/main" val="934036139"/>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0B98C08-D43C-425E-BBD3-A447E175253A}" type="slidenum">
              <a:rPr lang="en-US"/>
              <a:pPr>
                <a:defRPr/>
              </a:pPr>
              <a:t>‹#›</a:t>
            </a:fld>
            <a:endParaRPr lang="en-US" dirty="0"/>
          </a:p>
        </p:txBody>
      </p:sp>
    </p:spTree>
    <p:extLst>
      <p:ext uri="{BB962C8B-B14F-4D97-AF65-F5344CB8AC3E}">
        <p14:creationId xmlns:p14="http://schemas.microsoft.com/office/powerpoint/2010/main" val="1972367201"/>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609600" y="76200"/>
            <a:ext cx="8229600" cy="609600"/>
          </a:xfrm>
        </p:spPr>
        <p:txBody>
          <a:bodyPr>
            <a:normAutofit/>
          </a:bodyPr>
          <a:lstStyle>
            <a:lvl1pPr algn="l">
              <a:defRPr sz="2800"/>
            </a:lvl1pPr>
          </a:lstStyle>
          <a:p>
            <a:r>
              <a:rPr lang="en-US" dirty="0"/>
              <a:t>Click to edit Master title style</a:t>
            </a:r>
          </a:p>
        </p:txBody>
      </p:sp>
      <p:sp>
        <p:nvSpPr>
          <p:cNvPr id="9" name="Content Placeholder 2"/>
          <p:cNvSpPr>
            <a:spLocks noGrp="1"/>
          </p:cNvSpPr>
          <p:nvPr>
            <p:ph idx="1"/>
          </p:nvPr>
        </p:nvSpPr>
        <p:spPr>
          <a:xfrm>
            <a:off x="457200" y="1325562"/>
            <a:ext cx="8229600" cy="4525963"/>
          </a:xfrm>
        </p:spPr>
        <p:txBody>
          <a:bodyPr/>
          <a:lstStyle>
            <a:lvl1pPr marL="342900" indent="-342900">
              <a:buFont typeface="Wingdings" pitchFamily="2" charset="2"/>
              <a:buChar char="§"/>
              <a:defRPr sz="1800">
                <a:solidFill>
                  <a:schemeClr val="accent6"/>
                </a:solidFill>
              </a:defRPr>
            </a:lvl1pPr>
            <a:lvl2pPr marL="742950" indent="-285750">
              <a:buSzPct val="80000"/>
              <a:buFont typeface="Wingdings" pitchFamily="2" charset="2"/>
              <a:buChar char="§"/>
              <a:defRPr sz="1600"/>
            </a:lvl2pPr>
            <a:lvl3pPr marL="1143000" indent="-228600">
              <a:buSzPct val="60000"/>
              <a:buFont typeface="Wingdings" pitchFamily="2" charset="2"/>
              <a:buChar char="§"/>
              <a:defRPr sz="1400"/>
            </a:lvl3pPr>
            <a:lvl4pPr marL="1600200" indent="-228600">
              <a:buFont typeface="Arial" pitchFamily="34" charset="0"/>
              <a:buChar char="•"/>
              <a:defRPr sz="1200"/>
            </a:lvl4pPr>
            <a:lvl5pPr marL="2057400" indent="-228600">
              <a:buSzPct val="80000"/>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96EFDBF-18FA-471A-9D41-EA8F4F6B7528}" type="slidenum">
              <a:rPr lang="en-US"/>
              <a:pPr>
                <a:defRPr/>
              </a:pPr>
              <a:t>‹#›</a:t>
            </a:fld>
            <a:endParaRPr lang="en-US" dirty="0"/>
          </a:p>
        </p:txBody>
      </p:sp>
    </p:spTree>
    <p:extLst>
      <p:ext uri="{BB962C8B-B14F-4D97-AF65-F5344CB8AC3E}">
        <p14:creationId xmlns:p14="http://schemas.microsoft.com/office/powerpoint/2010/main" val="4219189400"/>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628CAE9E-DB93-4D1E-9773-FDA1DE5B9E3E}" type="slidenum">
              <a:rPr lang="en-US"/>
              <a:pPr>
                <a:defRPr/>
              </a:pPr>
              <a:t>‹#›</a:t>
            </a:fld>
            <a:endParaRPr lang="en-US" dirty="0"/>
          </a:p>
        </p:txBody>
      </p:sp>
    </p:spTree>
    <p:extLst>
      <p:ext uri="{BB962C8B-B14F-4D97-AF65-F5344CB8AC3E}">
        <p14:creationId xmlns:p14="http://schemas.microsoft.com/office/powerpoint/2010/main" val="164874752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CF1D9B9C-1BE0-4339-9D9E-369C7EBDAC0C}" type="slidenum">
              <a:rPr lang="en-US"/>
              <a:pPr>
                <a:defRPr/>
              </a:pPr>
              <a:t>‹#›</a:t>
            </a:fld>
            <a:endParaRPr lang="en-US" dirty="0"/>
          </a:p>
        </p:txBody>
      </p:sp>
    </p:spTree>
    <p:extLst>
      <p:ext uri="{BB962C8B-B14F-4D97-AF65-F5344CB8AC3E}">
        <p14:creationId xmlns:p14="http://schemas.microsoft.com/office/powerpoint/2010/main" val="3758242731"/>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p:cNvPicPr>
            <a:picLocks noChangeAspect="1"/>
          </p:cNvPicPr>
          <p:nvPr userDrawn="1"/>
        </p:nvPicPr>
        <p:blipFill>
          <a:blip r:embed="rId2">
            <a:extLst>
              <a:ext uri="{28A0092B-C50C-407E-A947-70E740481C1C}">
                <a14:useLocalDpi xmlns:a14="http://schemas.microsoft.com/office/drawing/2010/main" val="0"/>
              </a:ext>
            </a:extLst>
          </a:blip>
          <a:srcRect r="-58" b="26666"/>
          <a:stretch>
            <a:fillRect/>
          </a:stretch>
        </p:blipFill>
        <p:spPr bwMode="auto">
          <a:xfrm>
            <a:off x="4763" y="1828800"/>
            <a:ext cx="9139237"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userDrawn="1"/>
        </p:nvSpPr>
        <p:spPr>
          <a:xfrm>
            <a:off x="0" y="2362200"/>
            <a:ext cx="9144000" cy="1107996"/>
          </a:xfrm>
          <a:prstGeom prst="rect">
            <a:avLst/>
          </a:prstGeom>
          <a:noFill/>
        </p:spPr>
        <p:txBody>
          <a:bodyPr>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fontAlgn="auto">
              <a:spcBef>
                <a:spcPts val="0"/>
              </a:spcBef>
              <a:spcAft>
                <a:spcPts val="0"/>
              </a:spcAft>
              <a:defRPr/>
            </a:pPr>
            <a:r>
              <a:rPr lang="en-US" sz="6600" b="1" dirty="0">
                <a:ln/>
                <a:solidFill>
                  <a:schemeClr val="accent3"/>
                </a:solidFill>
                <a:latin typeface="+mn-lt"/>
                <a:ea typeface="+mn-ea"/>
              </a:rPr>
              <a:t>Thank You</a:t>
            </a:r>
          </a:p>
        </p:txBody>
      </p:sp>
      <p:sp>
        <p:nvSpPr>
          <p:cNvPr id="4" name="Date Placeholder 1"/>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2"/>
          <p:cNvSpPr>
            <a:spLocks noGrp="1"/>
          </p:cNvSpPr>
          <p:nvPr>
            <p:ph type="ftr" sz="quarter" idx="11"/>
          </p:nvPr>
        </p:nvSpPr>
        <p:spPr/>
        <p:txBody>
          <a:bodyPr/>
          <a:lstStyle>
            <a:lvl1pPr>
              <a:defRPr/>
            </a:lvl1pPr>
          </a:lstStyle>
          <a:p>
            <a:pPr>
              <a:defRPr/>
            </a:pPr>
            <a:r>
              <a:rPr lang="en-US"/>
              <a:t> Q-STEP Techno Brain - Restricted </a:t>
            </a:r>
            <a:endParaRPr lang="en-US" dirty="0"/>
          </a:p>
        </p:txBody>
      </p:sp>
    </p:spTree>
    <p:extLst>
      <p:ext uri="{BB962C8B-B14F-4D97-AF65-F5344CB8AC3E}">
        <p14:creationId xmlns:p14="http://schemas.microsoft.com/office/powerpoint/2010/main" val="2757190519"/>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3703396-D417-4A15-AC07-DD2684E4BCB1}" type="slidenum">
              <a:rPr lang="en-US"/>
              <a:pPr>
                <a:defRPr/>
              </a:pPr>
              <a:t>‹#›</a:t>
            </a:fld>
            <a:endParaRPr lang="en-US" dirty="0"/>
          </a:p>
        </p:txBody>
      </p:sp>
    </p:spTree>
    <p:extLst>
      <p:ext uri="{BB962C8B-B14F-4D97-AF65-F5344CB8AC3E}">
        <p14:creationId xmlns:p14="http://schemas.microsoft.com/office/powerpoint/2010/main" val="3445228782"/>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DFE5687-DD8C-4EE2-B5AD-A504CF01E245}" type="slidenum">
              <a:rPr lang="en-US"/>
              <a:pPr>
                <a:defRPr/>
              </a:pPr>
              <a:t>‹#›</a:t>
            </a:fld>
            <a:endParaRPr lang="en-US" dirty="0"/>
          </a:p>
        </p:txBody>
      </p:sp>
    </p:spTree>
    <p:extLst>
      <p:ext uri="{BB962C8B-B14F-4D97-AF65-F5344CB8AC3E}">
        <p14:creationId xmlns:p14="http://schemas.microsoft.com/office/powerpoint/2010/main" val="3985451990"/>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703192-BA31-497E-B201-1AA3B5FAC891}" type="slidenum">
              <a:rPr lang="en-US"/>
              <a:pPr>
                <a:defRPr/>
              </a:pPr>
              <a:t>‹#›</a:t>
            </a:fld>
            <a:endParaRPr lang="en-US" dirty="0"/>
          </a:p>
        </p:txBody>
      </p:sp>
    </p:spTree>
    <p:extLst>
      <p:ext uri="{BB962C8B-B14F-4D97-AF65-F5344CB8AC3E}">
        <p14:creationId xmlns:p14="http://schemas.microsoft.com/office/powerpoint/2010/main" val="162072516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22-Mar-2012  Document Version 1.3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Q-STEP Techno Brain - Restricted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DE104CC-D604-44C3-8442-AE5EDF1DF56B}" type="slidenum">
              <a:rPr lang="en-US"/>
              <a:pPr>
                <a:defRPr/>
              </a:pPr>
              <a:t>‹#›</a:t>
            </a:fld>
            <a:endParaRPr lang="en-US" dirty="0"/>
          </a:p>
        </p:txBody>
      </p:sp>
    </p:spTree>
    <p:extLst>
      <p:ext uri="{BB962C8B-B14F-4D97-AF65-F5344CB8AC3E}">
        <p14:creationId xmlns:p14="http://schemas.microsoft.com/office/powerpoint/2010/main" val="3413456939"/>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One">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077200" cy="914400"/>
          </a:xfrm>
        </p:spPr>
        <p:txBody>
          <a:bodyPr/>
          <a:lstStyle>
            <a:lvl1pPr>
              <a:defRPr/>
            </a:lvl1pPr>
          </a:lstStyle>
          <a:p>
            <a:r>
              <a:rPr lang="en-US" noProof="0"/>
              <a:t>Click to edit Master title style</a:t>
            </a:r>
          </a:p>
        </p:txBody>
      </p:sp>
      <p:sp>
        <p:nvSpPr>
          <p:cNvPr id="31" name="Content Placeholder 26"/>
          <p:cNvSpPr>
            <a:spLocks noGrp="1"/>
          </p:cNvSpPr>
          <p:nvPr>
            <p:ph sz="quarter" idx="15"/>
          </p:nvPr>
        </p:nvSpPr>
        <p:spPr>
          <a:xfrm>
            <a:off x="533400" y="1752600"/>
            <a:ext cx="8077200" cy="4419600"/>
          </a:xfrm>
        </p:spPr>
        <p:txBody>
          <a:bodyPr/>
          <a:lstStyle>
            <a:lvl1pPr>
              <a:defRPr baseline="0"/>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cxnSp>
        <p:nvCxnSpPr>
          <p:cNvPr id="15" name="Shape 14"/>
          <p:cNvCxnSpPr/>
          <p:nvPr/>
        </p:nvCxnSpPr>
        <p:spPr>
          <a:xfrm rot="5400000" flipH="1" flipV="1">
            <a:off x="4419603" y="-3429000"/>
            <a:ext cx="152399" cy="8229600"/>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540441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r>
              <a:rPr lang="en-US"/>
              <a:t>22-Mar-2012  Document Version 1.3</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 Q-STEP Techno Brain - Restricted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6A6AE48D-7A05-4FC0-92F3-71DA0C4BF80B}"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231" r:id="rId1"/>
    <p:sldLayoutId id="2147484232" r:id="rId2"/>
    <p:sldLayoutId id="2147484223" r:id="rId3"/>
    <p:sldLayoutId id="2147484224" r:id="rId4"/>
    <p:sldLayoutId id="2147484225" r:id="rId5"/>
    <p:sldLayoutId id="2147484226" r:id="rId6"/>
    <p:sldLayoutId id="2147484233" r:id="rId7"/>
    <p:sldLayoutId id="2147484227" r:id="rId8"/>
    <p:sldLayoutId id="2147484228" r:id="rId9"/>
    <p:sldLayoutId id="2147484229" r:id="rId10"/>
    <p:sldLayoutId id="2147484230" r:id="rId11"/>
    <p:sldLayoutId id="2147484234" r:id="rId12"/>
  </p:sldLayoutIdLst>
  <p:transition spd="slow"/>
  <p:hf hdr="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rtl="0" eaLnBrk="0" fontAlgn="base" hangingPunct="0">
        <a:spcBef>
          <a:spcPct val="20000"/>
        </a:spcBef>
        <a:spcAft>
          <a:spcPct val="0"/>
        </a:spcAft>
        <a:buClr>
          <a:srgbClr val="E46C0A"/>
        </a:buClr>
        <a:buSzPct val="120000"/>
        <a:buFont typeface="Wingdings" pitchFamily="2" charset="2"/>
        <a:buChar char="§"/>
        <a:defRPr kern="1200">
          <a:solidFill>
            <a:srgbClr val="F79646"/>
          </a:solidFill>
          <a:latin typeface="Malgun Gothic" pitchFamily="34" charset="-127"/>
          <a:ea typeface="MS PGothic" pitchFamily="34" charset="-128"/>
          <a:cs typeface="Malgun Gothic" charset="0"/>
        </a:defRPr>
      </a:lvl1pPr>
      <a:lvl2pPr marL="742950" indent="-285750" algn="l" rtl="0" eaLnBrk="0" fontAlgn="base" hangingPunct="0">
        <a:spcBef>
          <a:spcPct val="20000"/>
        </a:spcBef>
        <a:spcAft>
          <a:spcPct val="0"/>
        </a:spcAft>
        <a:buFont typeface="Wingdings" pitchFamily="2" charset="2"/>
        <a:buChar char="§"/>
        <a:defRPr sz="1600" kern="1200">
          <a:solidFill>
            <a:schemeClr val="tx1"/>
          </a:solidFill>
          <a:latin typeface="+mn-lt"/>
          <a:ea typeface="MS PGothic" pitchFamily="34" charset="-128"/>
          <a:cs typeface="MS PGothic" pitchFamily="34" charset="-128"/>
        </a:defRPr>
      </a:lvl2pPr>
      <a:lvl3pPr marL="1143000" indent="-228600" algn="l" rtl="0" eaLnBrk="0" fontAlgn="base" hangingPunct="0">
        <a:spcBef>
          <a:spcPct val="20000"/>
        </a:spcBef>
        <a:spcAft>
          <a:spcPct val="0"/>
        </a:spcAft>
        <a:buFont typeface="Arial" pitchFamily="34" charset="0"/>
        <a:buChar char="•"/>
        <a:defRPr sz="1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sz="1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2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TextBox 3"/>
          <p:cNvSpPr txBox="1">
            <a:spLocks noChangeArrowheads="1"/>
          </p:cNvSpPr>
          <p:nvPr/>
        </p:nvSpPr>
        <p:spPr bwMode="auto">
          <a:xfrm>
            <a:off x="15972" y="6324600"/>
            <a:ext cx="9144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algn="ctr" eaLnBrk="1" hangingPunct="1"/>
            <a:r>
              <a:rPr lang="en-US" sz="1600" b="1" dirty="0">
                <a:latin typeface="Segoe Condensed" pitchFamily="34" charset="0"/>
                <a:ea typeface="Malgun Gothic" pitchFamily="34" charset="-127"/>
              </a:rPr>
              <a:t>www.trimline.co.ke</a:t>
            </a:r>
          </a:p>
        </p:txBody>
      </p:sp>
      <p:sp>
        <p:nvSpPr>
          <p:cNvPr id="5" name="TextBox 4"/>
          <p:cNvSpPr txBox="1"/>
          <p:nvPr/>
        </p:nvSpPr>
        <p:spPr>
          <a:xfrm>
            <a:off x="647700" y="3733800"/>
            <a:ext cx="7848600" cy="1138773"/>
          </a:xfrm>
          <a:prstGeom prst="rect">
            <a:avLst/>
          </a:prstGeom>
          <a:noFill/>
        </p:spPr>
        <p:txBody>
          <a:bodyPr wrap="square" rtlCol="0">
            <a:spAutoFit/>
          </a:bodyPr>
          <a:lstStyle/>
          <a:p>
            <a:pPr algn="ctr"/>
            <a:r>
              <a:rPr lang="en-US" sz="4400" b="1" dirty="0" err="1"/>
              <a:t>TrimLine</a:t>
            </a:r>
            <a:r>
              <a:rPr lang="en-US" sz="4400" b="1" dirty="0"/>
              <a:t> Systems &amp; Solutions</a:t>
            </a:r>
          </a:p>
          <a:p>
            <a:pPr algn="ctr"/>
            <a:r>
              <a:rPr lang="en-US" sz="2400" b="1" dirty="0" err="1">
                <a:solidFill>
                  <a:schemeClr val="bg1"/>
                </a:solidFill>
              </a:rPr>
              <a:t>Kijabe</a:t>
            </a:r>
            <a:r>
              <a:rPr lang="en-US" sz="2400" b="1" dirty="0">
                <a:solidFill>
                  <a:schemeClr val="bg1"/>
                </a:solidFill>
              </a:rPr>
              <a:t> </a:t>
            </a:r>
            <a:r>
              <a:rPr lang="en-US" sz="2400" b="1" dirty="0" err="1">
                <a:solidFill>
                  <a:schemeClr val="bg1"/>
                </a:solidFill>
              </a:rPr>
              <a:t>street,Norfolk</a:t>
            </a:r>
            <a:r>
              <a:rPr lang="en-US" sz="2400" b="1" dirty="0">
                <a:solidFill>
                  <a:schemeClr val="bg1"/>
                </a:solidFill>
              </a:rPr>
              <a:t> towers 1st </a:t>
            </a:r>
            <a:r>
              <a:rPr lang="en-US" sz="2400" b="1" dirty="0" err="1">
                <a:solidFill>
                  <a:schemeClr val="bg1"/>
                </a:solidFill>
              </a:rPr>
              <a:t>flr</a:t>
            </a:r>
            <a:endParaRPr lang="en-US" sz="2400" b="1" dirty="0">
              <a:solidFill>
                <a:schemeClr val="bg1"/>
              </a:solidFill>
            </a:endParaRPr>
          </a:p>
        </p:txBody>
      </p:sp>
      <p:pic>
        <p:nvPicPr>
          <p:cNvPr id="6" name="Picture 5">
            <a:extLst>
              <a:ext uri="{FF2B5EF4-FFF2-40B4-BE49-F238E27FC236}">
                <a16:creationId xmlns:a16="http://schemas.microsoft.com/office/drawing/2014/main" id="{299A4C87-58F3-02F6-4CEB-441D865ABA5A}"/>
              </a:ext>
            </a:extLst>
          </p:cNvPr>
          <p:cNvPicPr>
            <a:picLocks noChangeAspect="1"/>
          </p:cNvPicPr>
          <p:nvPr/>
        </p:nvPicPr>
        <p:blipFill>
          <a:blip r:embed="rId3"/>
          <a:stretch>
            <a:fillRect/>
          </a:stretch>
        </p:blipFill>
        <p:spPr bwMode="auto">
          <a:xfrm>
            <a:off x="647700" y="-76200"/>
            <a:ext cx="3581400" cy="272946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EBB2-ED86-9C26-3C1E-232E8CC63AFD}"/>
              </a:ext>
            </a:extLst>
          </p:cNvPr>
          <p:cNvSpPr>
            <a:spLocks noGrp="1"/>
          </p:cNvSpPr>
          <p:nvPr>
            <p:ph type="title"/>
          </p:nvPr>
        </p:nvSpPr>
        <p:spPr/>
        <p:txBody>
          <a:bodyPr>
            <a:normAutofit/>
          </a:bodyPr>
          <a:lstStyle/>
          <a:p>
            <a:pPr algn="ctr"/>
            <a:r>
              <a:rPr lang="en-US" dirty="0"/>
              <a:t>Who We Are</a:t>
            </a:r>
          </a:p>
        </p:txBody>
      </p:sp>
      <p:sp>
        <p:nvSpPr>
          <p:cNvPr id="3" name="Content Placeholder 2">
            <a:extLst>
              <a:ext uri="{FF2B5EF4-FFF2-40B4-BE49-F238E27FC236}">
                <a16:creationId xmlns:a16="http://schemas.microsoft.com/office/drawing/2014/main" id="{F806B17F-DB55-A6D2-014E-F44FD473C0B2}"/>
              </a:ext>
            </a:extLst>
          </p:cNvPr>
          <p:cNvSpPr>
            <a:spLocks noGrp="1"/>
          </p:cNvSpPr>
          <p:nvPr>
            <p:ph idx="1"/>
          </p:nvPr>
        </p:nvSpPr>
        <p:spPr>
          <a:xfrm>
            <a:off x="533400" y="2667000"/>
            <a:ext cx="8229600" cy="2239963"/>
          </a:xfrm>
        </p:spPr>
        <p:txBody>
          <a:bodyPr/>
          <a:lstStyle/>
          <a:p>
            <a:pPr marL="0" indent="0" algn="ctr">
              <a:buNone/>
            </a:pPr>
            <a:r>
              <a:rPr lang="en-US" dirty="0">
                <a:solidFill>
                  <a:schemeClr val="tx1"/>
                </a:solidFill>
              </a:rPr>
              <a:t>Trimline Systems &amp; Solutions is a custom software services firm based in Nairobi, Kenya since 2017. We have extensive experience in many diverse areas of both software and hardware development. Our experienced staff of professionals has worked with a wide array of platforms, languages, and tools in the course of our various projects. </a:t>
            </a:r>
          </a:p>
        </p:txBody>
      </p:sp>
      <p:sp>
        <p:nvSpPr>
          <p:cNvPr id="6" name="Slide Number Placeholder 5">
            <a:extLst>
              <a:ext uri="{FF2B5EF4-FFF2-40B4-BE49-F238E27FC236}">
                <a16:creationId xmlns:a16="http://schemas.microsoft.com/office/drawing/2014/main" id="{816EB711-C36D-D446-0187-D96A693ACA03}"/>
              </a:ext>
            </a:extLst>
          </p:cNvPr>
          <p:cNvSpPr>
            <a:spLocks noGrp="1"/>
          </p:cNvSpPr>
          <p:nvPr>
            <p:ph type="sldNum" sz="quarter" idx="12"/>
          </p:nvPr>
        </p:nvSpPr>
        <p:spPr/>
        <p:txBody>
          <a:bodyPr/>
          <a:lstStyle/>
          <a:p>
            <a:pPr>
              <a:defRPr/>
            </a:pPr>
            <a:fld id="{174C6DE3-F3EF-42B8-B6CF-DA55CA4DF251}" type="slidenum">
              <a:rPr lang="en-US" smtClean="0"/>
              <a:pPr>
                <a:defRPr/>
              </a:pPr>
              <a:t>2</a:t>
            </a:fld>
            <a:endParaRPr lang="en-US" dirty="0"/>
          </a:p>
        </p:txBody>
      </p:sp>
    </p:spTree>
    <p:extLst>
      <p:ext uri="{BB962C8B-B14F-4D97-AF65-F5344CB8AC3E}">
        <p14:creationId xmlns:p14="http://schemas.microsoft.com/office/powerpoint/2010/main" val="257565132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03194-71DB-0248-2890-43522B1C9733}"/>
              </a:ext>
            </a:extLst>
          </p:cNvPr>
          <p:cNvSpPr>
            <a:spLocks noGrp="1"/>
          </p:cNvSpPr>
          <p:nvPr>
            <p:ph type="title"/>
          </p:nvPr>
        </p:nvSpPr>
        <p:spPr/>
        <p:txBody>
          <a:bodyPr/>
          <a:lstStyle/>
          <a:p>
            <a:pPr algn="ctr"/>
            <a:r>
              <a:rPr lang="en-US" dirty="0"/>
              <a:t>What we offer</a:t>
            </a:r>
          </a:p>
        </p:txBody>
      </p:sp>
      <p:sp>
        <p:nvSpPr>
          <p:cNvPr id="3" name="Content Placeholder 2">
            <a:extLst>
              <a:ext uri="{FF2B5EF4-FFF2-40B4-BE49-F238E27FC236}">
                <a16:creationId xmlns:a16="http://schemas.microsoft.com/office/drawing/2014/main" id="{7480694A-B41D-6C18-83F4-66A4409126ED}"/>
              </a:ext>
            </a:extLst>
          </p:cNvPr>
          <p:cNvSpPr>
            <a:spLocks noGrp="1"/>
          </p:cNvSpPr>
          <p:nvPr>
            <p:ph idx="1"/>
          </p:nvPr>
        </p:nvSpPr>
        <p:spPr>
          <a:xfrm>
            <a:off x="2971800" y="731837"/>
            <a:ext cx="5334000" cy="4525963"/>
          </a:xfrm>
        </p:spPr>
        <p:txBody>
          <a:bodyPr/>
          <a:lstStyle/>
          <a:p>
            <a:r>
              <a:rPr lang="en-US" sz="1800" b="1" dirty="0">
                <a:solidFill>
                  <a:schemeClr val="tx1"/>
                </a:solidFill>
              </a:rPr>
              <a:t>Sacco ERP</a:t>
            </a:r>
          </a:p>
          <a:p>
            <a:r>
              <a:rPr lang="en-US" b="1" dirty="0">
                <a:solidFill>
                  <a:schemeClr val="tx1"/>
                </a:solidFill>
              </a:rPr>
              <a:t>Manufacturing</a:t>
            </a:r>
          </a:p>
          <a:p>
            <a:r>
              <a:rPr lang="en-US" b="1" dirty="0">
                <a:solidFill>
                  <a:schemeClr val="tx1"/>
                </a:solidFill>
              </a:rPr>
              <a:t>School Management</a:t>
            </a:r>
            <a:endParaRPr lang="en-US" sz="1800" b="1" dirty="0">
              <a:solidFill>
                <a:schemeClr val="tx1"/>
              </a:solidFill>
            </a:endParaRPr>
          </a:p>
          <a:p>
            <a:r>
              <a:rPr lang="en-US" sz="1800" b="1" dirty="0">
                <a:solidFill>
                  <a:schemeClr val="tx1"/>
                </a:solidFill>
              </a:rPr>
              <a:t>Mobile Banking</a:t>
            </a:r>
          </a:p>
          <a:p>
            <a:r>
              <a:rPr lang="en-US" sz="1800" b="1" dirty="0">
                <a:solidFill>
                  <a:schemeClr val="tx1"/>
                </a:solidFill>
              </a:rPr>
              <a:t>Web portal</a:t>
            </a:r>
          </a:p>
          <a:p>
            <a:r>
              <a:rPr lang="en-US" sz="1800" b="1" dirty="0">
                <a:solidFill>
                  <a:schemeClr val="tx1"/>
                </a:solidFill>
              </a:rPr>
              <a:t>Agency Banking</a:t>
            </a:r>
          </a:p>
          <a:p>
            <a:r>
              <a:rPr lang="en-US" sz="1800" b="1" dirty="0">
                <a:solidFill>
                  <a:schemeClr val="tx1"/>
                </a:solidFill>
              </a:rPr>
              <a:t>Atm Bridge</a:t>
            </a:r>
          </a:p>
          <a:p>
            <a:r>
              <a:rPr lang="en-US" b="1" dirty="0">
                <a:solidFill>
                  <a:schemeClr val="tx1"/>
                </a:solidFill>
              </a:rPr>
              <a:t>Parcel </a:t>
            </a:r>
            <a:r>
              <a:rPr lang="en-US" b="1">
                <a:solidFill>
                  <a:schemeClr val="tx1"/>
                </a:solidFill>
              </a:rPr>
              <a:t>Delivery Management</a:t>
            </a:r>
            <a:endParaRPr lang="en-US" dirty="0">
              <a:solidFill>
                <a:schemeClr val="tx1"/>
              </a:solidFill>
            </a:endParaRPr>
          </a:p>
        </p:txBody>
      </p:sp>
      <p:sp>
        <p:nvSpPr>
          <p:cNvPr id="6" name="Slide Number Placeholder 5">
            <a:extLst>
              <a:ext uri="{FF2B5EF4-FFF2-40B4-BE49-F238E27FC236}">
                <a16:creationId xmlns:a16="http://schemas.microsoft.com/office/drawing/2014/main" id="{2B4F9772-37E8-9233-5B20-3FB923DC843F}"/>
              </a:ext>
            </a:extLst>
          </p:cNvPr>
          <p:cNvSpPr>
            <a:spLocks noGrp="1"/>
          </p:cNvSpPr>
          <p:nvPr>
            <p:ph type="sldNum" sz="quarter" idx="12"/>
          </p:nvPr>
        </p:nvSpPr>
        <p:spPr/>
        <p:txBody>
          <a:bodyPr/>
          <a:lstStyle/>
          <a:p>
            <a:pPr>
              <a:defRPr/>
            </a:pPr>
            <a:fld id="{174C6DE3-F3EF-42B8-B6CF-DA55CA4DF251}" type="slidenum">
              <a:rPr lang="en-US" smtClean="0"/>
              <a:pPr>
                <a:defRPr/>
              </a:pPr>
              <a:t>3</a:t>
            </a:fld>
            <a:endParaRPr lang="en-US" dirty="0"/>
          </a:p>
        </p:txBody>
      </p:sp>
    </p:spTree>
    <p:extLst>
      <p:ext uri="{BB962C8B-B14F-4D97-AF65-F5344CB8AC3E}">
        <p14:creationId xmlns:p14="http://schemas.microsoft.com/office/powerpoint/2010/main" val="613288500"/>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33400" y="685800"/>
            <a:ext cx="8077200" cy="533400"/>
          </a:xfrm>
          <a:ln>
            <a:noFill/>
          </a:ln>
        </p:spPr>
        <p:txBody>
          <a:bodyPr>
            <a:normAutofit fontScale="90000"/>
          </a:bodyPr>
          <a:lstStyle/>
          <a:p>
            <a:r>
              <a:rPr lang="en-US" sz="3600" b="0" dirty="0">
                <a:solidFill>
                  <a:prstClr val="black"/>
                </a:solidFill>
                <a:latin typeface="+mn-lt"/>
              </a:rPr>
              <a:t>Sacco Erp</a:t>
            </a:r>
          </a:p>
        </p:txBody>
      </p:sp>
      <p:sp>
        <p:nvSpPr>
          <p:cNvPr id="2" name="Content Placeholder 1"/>
          <p:cNvSpPr>
            <a:spLocks noGrp="1"/>
          </p:cNvSpPr>
          <p:nvPr>
            <p:ph sz="quarter" idx="15"/>
          </p:nvPr>
        </p:nvSpPr>
        <p:spPr>
          <a:xfrm>
            <a:off x="504825" y="1219200"/>
            <a:ext cx="8077200" cy="5105400"/>
          </a:xfrm>
          <a:ln>
            <a:solidFill>
              <a:schemeClr val="accent3">
                <a:lumMod val="75000"/>
              </a:schemeClr>
            </a:solidFill>
          </a:ln>
        </p:spPr>
        <p:txBody>
          <a:bodyPr/>
          <a:lstStyle/>
          <a:p>
            <a:pPr marL="0" indent="0">
              <a:buNone/>
            </a:pPr>
            <a:r>
              <a:rPr lang="en-US" b="1" dirty="0">
                <a:solidFill>
                  <a:prstClr val="black"/>
                </a:solidFill>
              </a:rPr>
              <a:t>Features:</a:t>
            </a:r>
          </a:p>
          <a:p>
            <a:r>
              <a:rPr lang="en-US" dirty="0">
                <a:solidFill>
                  <a:prstClr val="black"/>
                </a:solidFill>
              </a:rPr>
              <a:t>Finance(</a:t>
            </a:r>
            <a:r>
              <a:rPr lang="en-US" dirty="0" err="1">
                <a:solidFill>
                  <a:prstClr val="black"/>
                </a:solidFill>
              </a:rPr>
              <a:t>Payments,Receipts,Cash</a:t>
            </a:r>
            <a:r>
              <a:rPr lang="en-US" dirty="0">
                <a:solidFill>
                  <a:prstClr val="black"/>
                </a:solidFill>
              </a:rPr>
              <a:t> management)</a:t>
            </a:r>
          </a:p>
          <a:p>
            <a:r>
              <a:rPr lang="en-US" dirty="0">
                <a:solidFill>
                  <a:prstClr val="black"/>
                </a:solidFill>
              </a:rPr>
              <a:t>Members management(BOSA)</a:t>
            </a:r>
          </a:p>
          <a:p>
            <a:r>
              <a:rPr lang="en-US" dirty="0">
                <a:solidFill>
                  <a:prstClr val="black"/>
                </a:solidFill>
              </a:rPr>
              <a:t>Loans management</a:t>
            </a:r>
          </a:p>
          <a:p>
            <a:r>
              <a:rPr lang="en-US" dirty="0">
                <a:solidFill>
                  <a:prstClr val="black"/>
                </a:solidFill>
              </a:rPr>
              <a:t>Alternate channels (Mobile, Atm, Portals)</a:t>
            </a:r>
          </a:p>
          <a:p>
            <a:r>
              <a:rPr lang="en-US" dirty="0">
                <a:solidFill>
                  <a:prstClr val="black"/>
                </a:solidFill>
              </a:rPr>
              <a:t>Mobile money and Banks integrations</a:t>
            </a:r>
          </a:p>
          <a:p>
            <a:endParaRPr lang="en-US" dirty="0">
              <a:solidFill>
                <a:prstClr val="black"/>
              </a:solidFill>
            </a:endParaRPr>
          </a:p>
          <a:p>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4</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93305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Registration Process</a:t>
            </a:r>
          </a:p>
        </p:txBody>
      </p:sp>
      <p:sp>
        <p:nvSpPr>
          <p:cNvPr id="2" name="Content Placeholder 1"/>
          <p:cNvSpPr>
            <a:spLocks noGrp="1"/>
          </p:cNvSpPr>
          <p:nvPr>
            <p:ph sz="quarter" idx="15"/>
          </p:nvPr>
        </p:nvSpPr>
        <p:spPr>
          <a:ln>
            <a:solidFill>
              <a:schemeClr val="accent3">
                <a:lumMod val="75000"/>
              </a:schemeClr>
            </a:solidFill>
          </a:ln>
        </p:spPr>
        <p:txBody>
          <a:bodyPr/>
          <a:lstStyle/>
          <a:p>
            <a:pPr marL="0" indent="0">
              <a:buNone/>
            </a:pPr>
            <a:r>
              <a:rPr lang="en-US" b="1" dirty="0">
                <a:solidFill>
                  <a:prstClr val="black"/>
                </a:solidFill>
              </a:rPr>
              <a:t>Features:</a:t>
            </a:r>
          </a:p>
          <a:p>
            <a:r>
              <a:rPr lang="en-US" dirty="0">
                <a:solidFill>
                  <a:prstClr val="black"/>
                </a:solidFill>
              </a:rPr>
              <a:t>Member KYC (Name, National ID Number, Phone No, Email)</a:t>
            </a:r>
          </a:p>
          <a:p>
            <a:r>
              <a:rPr lang="en-US" dirty="0">
                <a:solidFill>
                  <a:prstClr val="black"/>
                </a:solidFill>
              </a:rPr>
              <a:t>Next of Kin Registration</a:t>
            </a:r>
          </a:p>
          <a:p>
            <a:r>
              <a:rPr lang="en-US" dirty="0">
                <a:solidFill>
                  <a:prstClr val="black"/>
                </a:solidFill>
              </a:rPr>
              <a:t>Signatories Registration</a:t>
            </a:r>
          </a:p>
          <a:p>
            <a:r>
              <a:rPr lang="en-US" dirty="0">
                <a:solidFill>
                  <a:prstClr val="black"/>
                </a:solidFill>
              </a:rPr>
              <a:t>Members Passport and Signature</a:t>
            </a:r>
          </a:p>
          <a:p>
            <a:r>
              <a:rPr lang="en-US" dirty="0">
                <a:solidFill>
                  <a:prstClr val="black"/>
                </a:solidFill>
              </a:rPr>
              <a:t>Appraisal and Approval workflow</a:t>
            </a:r>
          </a:p>
          <a:p>
            <a:r>
              <a:rPr lang="en-US" dirty="0">
                <a:solidFill>
                  <a:prstClr val="black"/>
                </a:solidFill>
              </a:rPr>
              <a:t>Registration Fees</a:t>
            </a:r>
          </a:p>
          <a:p>
            <a:r>
              <a:rPr lang="en-US" dirty="0">
                <a:solidFill>
                  <a:prstClr val="black"/>
                </a:solidFill>
              </a:rPr>
              <a:t>Account Creation</a:t>
            </a:r>
          </a:p>
          <a:p>
            <a:pPr marL="0" indent="0">
              <a:buNone/>
            </a:pPr>
            <a:endParaRPr lang="en-US" dirty="0">
              <a:solidFill>
                <a:prstClr val="black"/>
              </a:solidFill>
            </a:endParaRPr>
          </a:p>
          <a:p>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5</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73591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Loan Application Process</a:t>
            </a:r>
          </a:p>
        </p:txBody>
      </p:sp>
      <p:sp>
        <p:nvSpPr>
          <p:cNvPr id="2" name="Content Placeholder 1"/>
          <p:cNvSpPr>
            <a:spLocks noGrp="1"/>
          </p:cNvSpPr>
          <p:nvPr>
            <p:ph sz="quarter" idx="15"/>
          </p:nvPr>
        </p:nvSpPr>
        <p:spPr>
          <a:ln>
            <a:solidFill>
              <a:schemeClr val="accent3">
                <a:lumMod val="75000"/>
              </a:schemeClr>
            </a:solidFill>
          </a:ln>
        </p:spPr>
        <p:txBody>
          <a:bodyPr/>
          <a:lstStyle/>
          <a:p>
            <a:pPr marL="0" indent="0">
              <a:buNone/>
            </a:pPr>
            <a:r>
              <a:rPr lang="en-US" b="1" dirty="0">
                <a:solidFill>
                  <a:prstClr val="black"/>
                </a:solidFill>
              </a:rPr>
              <a:t>Features:</a:t>
            </a:r>
          </a:p>
          <a:p>
            <a:r>
              <a:rPr lang="en-US" dirty="0">
                <a:solidFill>
                  <a:prstClr val="black"/>
                </a:solidFill>
              </a:rPr>
              <a:t>Loan Products Setup</a:t>
            </a:r>
          </a:p>
          <a:p>
            <a:pPr lvl="1"/>
            <a:r>
              <a:rPr lang="en-US" dirty="0">
                <a:solidFill>
                  <a:prstClr val="black"/>
                </a:solidFill>
              </a:rPr>
              <a:t>Interest rate</a:t>
            </a:r>
          </a:p>
          <a:p>
            <a:pPr lvl="1"/>
            <a:r>
              <a:rPr lang="en-US" dirty="0">
                <a:solidFill>
                  <a:prstClr val="black"/>
                </a:solidFill>
              </a:rPr>
              <a:t>Repayment period</a:t>
            </a:r>
          </a:p>
          <a:p>
            <a:pPr lvl="1"/>
            <a:r>
              <a:rPr lang="en-US" dirty="0">
                <a:solidFill>
                  <a:prstClr val="black"/>
                </a:solidFill>
              </a:rPr>
              <a:t>Repayment Method(Reducing </a:t>
            </a:r>
            <a:r>
              <a:rPr lang="en-US" dirty="0" err="1">
                <a:solidFill>
                  <a:prstClr val="black"/>
                </a:solidFill>
              </a:rPr>
              <a:t>balance,Amortised</a:t>
            </a:r>
            <a:r>
              <a:rPr lang="en-US" dirty="0">
                <a:solidFill>
                  <a:prstClr val="black"/>
                </a:solidFill>
              </a:rPr>
              <a:t>, Straight Line)</a:t>
            </a:r>
          </a:p>
          <a:p>
            <a:pPr lvl="1"/>
            <a:r>
              <a:rPr lang="en-US" dirty="0">
                <a:solidFill>
                  <a:prstClr val="black"/>
                </a:solidFill>
              </a:rPr>
              <a:t>Accounts(Loan account, Interest </a:t>
            </a:r>
            <a:r>
              <a:rPr lang="en-US" dirty="0" err="1">
                <a:solidFill>
                  <a:prstClr val="black"/>
                </a:solidFill>
              </a:rPr>
              <a:t>income,Interest</a:t>
            </a:r>
            <a:r>
              <a:rPr lang="en-US" dirty="0">
                <a:solidFill>
                  <a:prstClr val="black"/>
                </a:solidFill>
              </a:rPr>
              <a:t> receivable, Penalty)</a:t>
            </a:r>
          </a:p>
          <a:p>
            <a:pPr lvl="1"/>
            <a:r>
              <a:rPr lang="en-US" dirty="0">
                <a:solidFill>
                  <a:prstClr val="black"/>
                </a:solidFill>
              </a:rPr>
              <a:t>Penalty Percentage</a:t>
            </a:r>
          </a:p>
          <a:p>
            <a:pPr lvl="1"/>
            <a:r>
              <a:rPr lang="en-US" dirty="0">
                <a:solidFill>
                  <a:prstClr val="black"/>
                </a:solidFill>
              </a:rPr>
              <a:t>Grace Period</a:t>
            </a:r>
          </a:p>
          <a:p>
            <a:pPr lvl="1"/>
            <a:r>
              <a:rPr lang="en-US" dirty="0">
                <a:solidFill>
                  <a:prstClr val="black"/>
                </a:solidFill>
              </a:rPr>
              <a:t>Guarantors</a:t>
            </a:r>
          </a:p>
          <a:p>
            <a:r>
              <a:rPr lang="en-US" dirty="0">
                <a:solidFill>
                  <a:prstClr val="black"/>
                </a:solidFill>
              </a:rPr>
              <a:t>Loan Application</a:t>
            </a:r>
          </a:p>
          <a:p>
            <a:pPr lvl="1"/>
            <a:r>
              <a:rPr lang="en-US" dirty="0">
                <a:solidFill>
                  <a:prstClr val="black"/>
                </a:solidFill>
              </a:rPr>
              <a:t>Application Date</a:t>
            </a:r>
          </a:p>
          <a:p>
            <a:pPr lvl="1"/>
            <a:r>
              <a:rPr lang="en-US" dirty="0">
                <a:solidFill>
                  <a:prstClr val="black"/>
                </a:solidFill>
              </a:rPr>
              <a:t>Loan Product</a:t>
            </a:r>
          </a:p>
          <a:p>
            <a:pPr lvl="1"/>
            <a:r>
              <a:rPr lang="en-US" dirty="0">
                <a:solidFill>
                  <a:prstClr val="black"/>
                </a:solidFill>
              </a:rPr>
              <a:t>Repayment Period</a:t>
            </a:r>
          </a:p>
          <a:p>
            <a:pPr lvl="1"/>
            <a:r>
              <a:rPr lang="en-US" dirty="0">
                <a:solidFill>
                  <a:prstClr val="black"/>
                </a:solidFill>
              </a:rPr>
              <a:t>Application Amount</a:t>
            </a:r>
          </a:p>
          <a:p>
            <a:pPr marL="0" indent="0">
              <a:buNone/>
            </a:pPr>
            <a:endParaRPr lang="en-US" dirty="0">
              <a:solidFill>
                <a:prstClr val="black"/>
              </a:solidFill>
            </a:endParaRPr>
          </a:p>
          <a:p>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6</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4389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Loan Application Process ..</a:t>
            </a:r>
          </a:p>
        </p:txBody>
      </p:sp>
      <p:sp>
        <p:nvSpPr>
          <p:cNvPr id="2" name="Content Placeholder 1"/>
          <p:cNvSpPr>
            <a:spLocks noGrp="1"/>
          </p:cNvSpPr>
          <p:nvPr>
            <p:ph sz="quarter" idx="15"/>
          </p:nvPr>
        </p:nvSpPr>
        <p:spPr>
          <a:ln>
            <a:solidFill>
              <a:schemeClr val="accent3">
                <a:lumMod val="75000"/>
              </a:schemeClr>
            </a:solidFill>
          </a:ln>
        </p:spPr>
        <p:txBody>
          <a:bodyPr/>
          <a:lstStyle/>
          <a:p>
            <a:pPr lvl="1"/>
            <a:r>
              <a:rPr lang="en-US" dirty="0">
                <a:solidFill>
                  <a:prstClr val="black"/>
                </a:solidFill>
              </a:rPr>
              <a:t>Guarantors setup</a:t>
            </a:r>
          </a:p>
          <a:p>
            <a:pPr lvl="1"/>
            <a:r>
              <a:rPr lang="en-US" dirty="0">
                <a:solidFill>
                  <a:prstClr val="black"/>
                </a:solidFill>
              </a:rPr>
              <a:t>Repayment Schedule</a:t>
            </a:r>
          </a:p>
          <a:p>
            <a:pPr lvl="1"/>
            <a:r>
              <a:rPr lang="en-US" dirty="0">
                <a:solidFill>
                  <a:prstClr val="black"/>
                </a:solidFill>
              </a:rPr>
              <a:t>Approval Work flow</a:t>
            </a:r>
          </a:p>
          <a:p>
            <a:pPr lvl="1"/>
            <a:r>
              <a:rPr lang="en-US" dirty="0">
                <a:solidFill>
                  <a:prstClr val="black"/>
                </a:solidFill>
              </a:rPr>
              <a:t>Top ups</a:t>
            </a:r>
          </a:p>
          <a:p>
            <a:pPr marL="457200" lvl="1" indent="0">
              <a:buNone/>
            </a:pPr>
            <a:endParaRPr lang="en-US" dirty="0">
              <a:solidFill>
                <a:prstClr val="black"/>
              </a:solidFill>
            </a:endParaRPr>
          </a:p>
          <a:p>
            <a:endParaRPr lang="en-US" dirty="0">
              <a:solidFill>
                <a:prstClr val="black"/>
              </a:solidFill>
            </a:endParaRP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7</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95787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ln>
            <a:noFill/>
          </a:ln>
        </p:spPr>
        <p:txBody>
          <a:bodyPr>
            <a:normAutofit/>
          </a:bodyPr>
          <a:lstStyle/>
          <a:p>
            <a:r>
              <a:rPr lang="en-US" sz="3600" b="0" dirty="0">
                <a:solidFill>
                  <a:prstClr val="black"/>
                </a:solidFill>
                <a:latin typeface="+mn-lt"/>
              </a:rPr>
              <a:t>Mobile Banking</a:t>
            </a:r>
          </a:p>
        </p:txBody>
      </p:sp>
      <p:sp>
        <p:nvSpPr>
          <p:cNvPr id="2" name="Content Placeholder 1"/>
          <p:cNvSpPr>
            <a:spLocks noGrp="1"/>
          </p:cNvSpPr>
          <p:nvPr>
            <p:ph sz="quarter" idx="15"/>
          </p:nvPr>
        </p:nvSpPr>
        <p:spPr>
          <a:ln>
            <a:solidFill>
              <a:schemeClr val="accent3">
                <a:lumMod val="75000"/>
              </a:schemeClr>
            </a:solidFill>
          </a:ln>
        </p:spPr>
        <p:txBody>
          <a:bodyPr/>
          <a:lstStyle/>
          <a:p>
            <a:pPr marL="0" indent="0">
              <a:buNone/>
            </a:pPr>
            <a:r>
              <a:rPr lang="en-US" b="1" dirty="0">
                <a:solidFill>
                  <a:prstClr val="black"/>
                </a:solidFill>
              </a:rPr>
              <a:t>Options:</a:t>
            </a:r>
          </a:p>
          <a:p>
            <a:r>
              <a:rPr lang="en-US" dirty="0" err="1">
                <a:solidFill>
                  <a:prstClr val="black"/>
                </a:solidFill>
              </a:rPr>
              <a:t>Ussd</a:t>
            </a:r>
            <a:r>
              <a:rPr lang="en-US" dirty="0">
                <a:solidFill>
                  <a:prstClr val="black"/>
                </a:solidFill>
              </a:rPr>
              <a:t> &amp; Mobile App</a:t>
            </a:r>
          </a:p>
          <a:p>
            <a:pPr marL="0" indent="0">
              <a:buNone/>
            </a:pPr>
            <a:r>
              <a:rPr lang="en-US" b="1" dirty="0">
                <a:solidFill>
                  <a:prstClr val="black"/>
                </a:solidFill>
              </a:rPr>
              <a:t>Features:</a:t>
            </a:r>
          </a:p>
          <a:p>
            <a:r>
              <a:rPr lang="en-US" dirty="0">
                <a:solidFill>
                  <a:prstClr val="black"/>
                </a:solidFill>
              </a:rPr>
              <a:t>All account/sub accounts Balances</a:t>
            </a:r>
          </a:p>
          <a:p>
            <a:r>
              <a:rPr lang="en-US" dirty="0">
                <a:solidFill>
                  <a:prstClr val="black"/>
                </a:solidFill>
              </a:rPr>
              <a:t>Mini statement</a:t>
            </a:r>
          </a:p>
          <a:p>
            <a:r>
              <a:rPr lang="en-US" dirty="0">
                <a:solidFill>
                  <a:prstClr val="black"/>
                </a:solidFill>
              </a:rPr>
              <a:t>Transfer to mobile money(</a:t>
            </a:r>
            <a:r>
              <a:rPr lang="en-US" dirty="0" err="1">
                <a:solidFill>
                  <a:prstClr val="black"/>
                </a:solidFill>
              </a:rPr>
              <a:t>Mpesa</a:t>
            </a:r>
            <a:r>
              <a:rPr lang="en-US" dirty="0">
                <a:solidFill>
                  <a:prstClr val="black"/>
                </a:solidFill>
              </a:rPr>
              <a:t>, Airtel Money, t-</a:t>
            </a:r>
            <a:r>
              <a:rPr lang="en-US" dirty="0" err="1">
                <a:solidFill>
                  <a:prstClr val="black"/>
                </a:solidFill>
              </a:rPr>
              <a:t>Kash</a:t>
            </a:r>
            <a:r>
              <a:rPr lang="en-US" dirty="0">
                <a:solidFill>
                  <a:prstClr val="black"/>
                </a:solidFill>
              </a:rPr>
              <a:t>)</a:t>
            </a:r>
          </a:p>
          <a:p>
            <a:r>
              <a:rPr lang="en-US" dirty="0">
                <a:solidFill>
                  <a:prstClr val="black"/>
                </a:solidFill>
              </a:rPr>
              <a:t>Loan application(instant loans, other loans)</a:t>
            </a:r>
          </a:p>
          <a:p>
            <a:r>
              <a:rPr lang="en-US" dirty="0">
                <a:solidFill>
                  <a:prstClr val="black"/>
                </a:solidFill>
              </a:rPr>
              <a:t>Loans Repayment</a:t>
            </a:r>
          </a:p>
          <a:p>
            <a:r>
              <a:rPr lang="en-US" dirty="0">
                <a:solidFill>
                  <a:prstClr val="black"/>
                </a:solidFill>
              </a:rPr>
              <a:t>Deposits to all accounts</a:t>
            </a:r>
          </a:p>
          <a:p>
            <a:r>
              <a:rPr lang="en-US" dirty="0">
                <a:solidFill>
                  <a:prstClr val="black"/>
                </a:solidFill>
              </a:rPr>
              <a:t>Inter account transfers</a:t>
            </a:r>
          </a:p>
          <a:p>
            <a:r>
              <a:rPr lang="en-US" dirty="0">
                <a:solidFill>
                  <a:prstClr val="black"/>
                </a:solidFill>
              </a:rPr>
              <a:t>Airtime </a:t>
            </a:r>
            <a:r>
              <a:rPr lang="en-US" dirty="0" err="1">
                <a:solidFill>
                  <a:prstClr val="black"/>
                </a:solidFill>
              </a:rPr>
              <a:t>topup</a:t>
            </a:r>
            <a:endParaRPr lang="en-US" dirty="0">
              <a:solidFill>
                <a:prstClr val="black"/>
              </a:solidFill>
            </a:endParaRPr>
          </a:p>
          <a:p>
            <a:r>
              <a:rPr lang="en-US" dirty="0">
                <a:solidFill>
                  <a:prstClr val="black"/>
                </a:solidFill>
              </a:rPr>
              <a:t>Utility payment</a:t>
            </a:r>
          </a:p>
          <a:p>
            <a:pPr marL="0" indent="0">
              <a:buNone/>
            </a:pPr>
            <a:endParaRPr lang="en-US" dirty="0">
              <a:solidFill>
                <a:prstClr val="black"/>
              </a:solidFill>
            </a:endParaRPr>
          </a:p>
          <a:p>
            <a:pPr marL="0" indent="0">
              <a:buNone/>
            </a:pPr>
            <a:endParaRPr lang="en-US" dirty="0">
              <a:solidFill>
                <a:prstClr val="black"/>
              </a:solidFill>
            </a:endParaRPr>
          </a:p>
          <a:p>
            <a:endParaRPr lang="en-US" dirty="0"/>
          </a:p>
        </p:txBody>
      </p:sp>
      <p:sp>
        <p:nvSpPr>
          <p:cNvPr id="6148" name="Slide Number Placeholder 3"/>
          <p:cNvSpPr>
            <a:spLocks noGrp="1"/>
          </p:cNvSpPr>
          <p:nvPr>
            <p:ph type="sldNum" sz="quarter" idx="4294967295"/>
          </p:nvPr>
        </p:nvSpPr>
        <p:spPr bwMode="auto">
          <a:xfrm>
            <a:off x="7010400" y="64008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eaLnBrk="1" hangingPunct="1"/>
            <a:fld id="{6C039C4F-FAB6-4097-9F4E-D8B7B1DA9C8B}" type="slidenum">
              <a:rPr lang="en-US" smtClean="0">
                <a:solidFill>
                  <a:srgbClr val="898989"/>
                </a:solidFill>
              </a:rPr>
              <a:pPr eaLnBrk="1" hangingPunct="1"/>
              <a:t>8</a:t>
            </a:fld>
            <a:endParaRPr lang="en-US" dirty="0">
              <a:solidFill>
                <a:srgbClr val="898989"/>
              </a:solidFill>
            </a:endParaRPr>
          </a:p>
        </p:txBody>
      </p:sp>
      <p:pic>
        <p:nvPicPr>
          <p:cNvPr id="6150" name="Picture 2" descr="C:\Program Files\Microsoft Resource DVD Artwork\DVD_ART\Artwork_Imagery\Shapes and Graphics\Line\clear shadow line.pn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78563"/>
            <a:ext cx="878205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2074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Agency Banking</a:t>
            </a:r>
          </a:p>
        </p:txBody>
      </p:sp>
      <p:sp>
        <p:nvSpPr>
          <p:cNvPr id="3" name="Content Placeholder 2"/>
          <p:cNvSpPr>
            <a:spLocks noGrp="1"/>
          </p:cNvSpPr>
          <p:nvPr>
            <p:ph sz="quarter" idx="15"/>
          </p:nvPr>
        </p:nvSpPr>
        <p:spPr/>
        <p:txBody>
          <a:bodyPr/>
          <a:lstStyle/>
          <a:p>
            <a:pPr marL="0" indent="0">
              <a:buNone/>
            </a:pPr>
            <a:r>
              <a:rPr lang="en-US" b="1" dirty="0">
                <a:solidFill>
                  <a:schemeClr val="tx1"/>
                </a:solidFill>
              </a:rPr>
              <a:t>Features</a:t>
            </a:r>
          </a:p>
          <a:p>
            <a:r>
              <a:rPr lang="en-US" dirty="0">
                <a:solidFill>
                  <a:schemeClr val="tx1"/>
                </a:solidFill>
              </a:rPr>
              <a:t>Account activation </a:t>
            </a:r>
          </a:p>
          <a:p>
            <a:r>
              <a:rPr lang="en-US" dirty="0">
                <a:solidFill>
                  <a:schemeClr val="tx1"/>
                </a:solidFill>
              </a:rPr>
              <a:t>Cash Withdrawal</a:t>
            </a:r>
          </a:p>
          <a:p>
            <a:r>
              <a:rPr lang="en-US" dirty="0">
                <a:solidFill>
                  <a:schemeClr val="tx1"/>
                </a:solidFill>
              </a:rPr>
              <a:t>Deposit</a:t>
            </a:r>
          </a:p>
          <a:p>
            <a:r>
              <a:rPr lang="en-US" dirty="0">
                <a:solidFill>
                  <a:schemeClr val="tx1"/>
                </a:solidFill>
              </a:rPr>
              <a:t>Transfer</a:t>
            </a:r>
          </a:p>
          <a:p>
            <a:r>
              <a:rPr lang="en-US" dirty="0">
                <a:solidFill>
                  <a:schemeClr val="tx1"/>
                </a:solidFill>
              </a:rPr>
              <a:t>Loan application</a:t>
            </a:r>
          </a:p>
          <a:p>
            <a:r>
              <a:rPr lang="en-US" dirty="0">
                <a:solidFill>
                  <a:schemeClr val="tx1"/>
                </a:solidFill>
              </a:rPr>
              <a:t>Pay Loan</a:t>
            </a:r>
          </a:p>
          <a:p>
            <a:r>
              <a:rPr lang="en-US" dirty="0">
                <a:solidFill>
                  <a:schemeClr val="tx1"/>
                </a:solidFill>
              </a:rPr>
              <a:t>Transfer</a:t>
            </a:r>
          </a:p>
          <a:p>
            <a:r>
              <a:rPr lang="en-US" dirty="0">
                <a:solidFill>
                  <a:schemeClr val="tx1"/>
                </a:solidFill>
              </a:rPr>
              <a:t>Balance Enquiry</a:t>
            </a:r>
          </a:p>
          <a:p>
            <a:r>
              <a:rPr lang="en-US" dirty="0">
                <a:solidFill>
                  <a:schemeClr val="tx1"/>
                </a:solidFill>
              </a:rPr>
              <a:t>Mini statements</a:t>
            </a:r>
          </a:p>
          <a:p>
            <a:r>
              <a:rPr lang="en-US" dirty="0">
                <a:solidFill>
                  <a:schemeClr val="tx1"/>
                </a:solidFill>
              </a:rPr>
              <a:t>Reports</a:t>
            </a:r>
          </a:p>
          <a:p>
            <a:endParaRPr lang="en-US" dirty="0"/>
          </a:p>
          <a:p>
            <a:endParaRPr lang="en-US" dirty="0"/>
          </a:p>
        </p:txBody>
      </p:sp>
    </p:spTree>
    <p:extLst>
      <p:ext uri="{BB962C8B-B14F-4D97-AF65-F5344CB8AC3E}">
        <p14:creationId xmlns:p14="http://schemas.microsoft.com/office/powerpoint/2010/main" val="3924284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a:t>
            </a:r>
          </a:p>
        </p:txBody>
      </p:sp>
      <p:sp>
        <p:nvSpPr>
          <p:cNvPr id="3" name="Content Placeholder 2"/>
          <p:cNvSpPr>
            <a:spLocks noGrp="1"/>
          </p:cNvSpPr>
          <p:nvPr>
            <p:ph sz="quarter" idx="15"/>
          </p:nvPr>
        </p:nvSpPr>
        <p:spPr/>
        <p:txBody>
          <a:bodyPr/>
          <a:lstStyle/>
          <a:p>
            <a:pPr algn="just"/>
            <a:r>
              <a:rPr lang="en-US" sz="1600" b="1" dirty="0">
                <a:solidFill>
                  <a:schemeClr val="tx1"/>
                </a:solidFill>
              </a:rPr>
              <a:t>Web services</a:t>
            </a:r>
            <a:r>
              <a:rPr lang="en-US" sz="1600" dirty="0">
                <a:solidFill>
                  <a:schemeClr val="tx1"/>
                </a:solidFill>
              </a:rPr>
              <a:t> - Our alternate channels uses web services (APIs) to integrate to co-banking system NAV. This eliminates the need for special database rights as the account is set within the co-banking system.</a:t>
            </a:r>
          </a:p>
          <a:p>
            <a:pPr algn="just"/>
            <a:r>
              <a:rPr lang="en-US" sz="1600" b="1" dirty="0">
                <a:solidFill>
                  <a:schemeClr val="tx1"/>
                </a:solidFill>
              </a:rPr>
              <a:t>Encryption</a:t>
            </a:r>
            <a:r>
              <a:rPr lang="en-US" sz="1600" dirty="0">
                <a:solidFill>
                  <a:schemeClr val="tx1"/>
                </a:solidFill>
              </a:rPr>
              <a:t> – All alternate channels key link information is encrypted and unreadable to human eyes. This means that these information cannot be edited even in the backend. The encryption is done at the point the information is linked to the alternate channels. </a:t>
            </a:r>
          </a:p>
          <a:p>
            <a:pPr algn="just"/>
            <a:r>
              <a:rPr lang="en-US" sz="1600" b="1" dirty="0">
                <a:solidFill>
                  <a:schemeClr val="tx1"/>
                </a:solidFill>
              </a:rPr>
              <a:t>No Passwords</a:t>
            </a:r>
            <a:r>
              <a:rPr lang="en-US" sz="1600" dirty="0">
                <a:solidFill>
                  <a:schemeClr val="tx1"/>
                </a:solidFill>
              </a:rPr>
              <a:t> –Our Navision web services have been configured to use access keys to login to Navision. These access keys are only used as by the APIs and no user can login to Dynamics Navision using the access key.</a:t>
            </a:r>
          </a:p>
          <a:p>
            <a:pPr algn="just"/>
            <a:r>
              <a:rPr lang="en-US" sz="1600" b="1" dirty="0">
                <a:solidFill>
                  <a:schemeClr val="tx1"/>
                </a:solidFill>
              </a:rPr>
              <a:t>Auto posting</a:t>
            </a:r>
            <a:r>
              <a:rPr lang="en-US" sz="1600" dirty="0">
                <a:solidFill>
                  <a:schemeClr val="tx1"/>
                </a:solidFill>
              </a:rPr>
              <a:t> – Dynamics Navision has a job scheduler which is used to process set tasks at desired time. If not configured nicely the Job scheduler can be a challenge to use. We have incorporated the process of updating the customers’ accounts(posting) into our bridge application, with this the task of setting up the job scheduler becomes obsolete.</a:t>
            </a:r>
          </a:p>
          <a:p>
            <a:pPr algn="just"/>
            <a:r>
              <a:rPr lang="en-US" sz="1600" b="1" dirty="0">
                <a:solidFill>
                  <a:schemeClr val="tx1"/>
                </a:solidFill>
              </a:rPr>
              <a:t>Reconciliations</a:t>
            </a:r>
            <a:r>
              <a:rPr lang="en-US" sz="1600" dirty="0">
                <a:solidFill>
                  <a:schemeClr val="tx1"/>
                </a:solidFill>
              </a:rPr>
              <a:t> -  We have automated reconciliations module in dynamics Navision for reconciling data from the alternate channels.</a:t>
            </a:r>
          </a:p>
          <a:p>
            <a:endParaRPr lang="en-US" dirty="0"/>
          </a:p>
        </p:txBody>
      </p:sp>
    </p:spTree>
    <p:extLst>
      <p:ext uri="{BB962C8B-B14F-4D97-AF65-F5344CB8AC3E}">
        <p14:creationId xmlns:p14="http://schemas.microsoft.com/office/powerpoint/2010/main" val="325034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4754C-3B42-224D-F06C-2B58E2E8123A}"/>
              </a:ext>
            </a:extLst>
          </p:cNvPr>
          <p:cNvSpPr>
            <a:spLocks noGrp="1"/>
          </p:cNvSpPr>
          <p:nvPr>
            <p:ph type="title"/>
          </p:nvPr>
        </p:nvSpPr>
        <p:spPr/>
        <p:txBody>
          <a:bodyPr/>
          <a:lstStyle/>
          <a:p>
            <a:r>
              <a:rPr lang="en-US" dirty="0"/>
              <a:t>Our Clients</a:t>
            </a:r>
          </a:p>
        </p:txBody>
      </p:sp>
      <p:sp>
        <p:nvSpPr>
          <p:cNvPr id="9" name="Content Placeholder 8">
            <a:extLst>
              <a:ext uri="{FF2B5EF4-FFF2-40B4-BE49-F238E27FC236}">
                <a16:creationId xmlns:a16="http://schemas.microsoft.com/office/drawing/2014/main" id="{924D3A52-484C-9C3F-9BE2-3FC734E846B4}"/>
              </a:ext>
            </a:extLst>
          </p:cNvPr>
          <p:cNvSpPr>
            <a:spLocks noGrp="1"/>
          </p:cNvSpPr>
          <p:nvPr>
            <p:ph idx="1"/>
          </p:nvPr>
        </p:nvSpPr>
        <p:spPr>
          <a:xfrm>
            <a:off x="76200" y="731836"/>
            <a:ext cx="9067800" cy="6034089"/>
          </a:xfrm>
        </p:spPr>
        <p:txBody>
          <a:bodyPr/>
          <a:lstStyle/>
          <a:p>
            <a:pPr lvl="1"/>
            <a:r>
              <a:rPr lang="en-US" dirty="0" err="1"/>
              <a:t>Nyayo</a:t>
            </a:r>
            <a:r>
              <a:rPr lang="en-US" dirty="0"/>
              <a:t> Tea Zone</a:t>
            </a:r>
          </a:p>
          <a:p>
            <a:pPr lvl="1"/>
            <a:r>
              <a:rPr lang="en-US" dirty="0" err="1"/>
              <a:t>Kamarich</a:t>
            </a:r>
            <a:r>
              <a:rPr lang="en-US" dirty="0"/>
              <a:t> Tea Factory- Nandi hills</a:t>
            </a:r>
          </a:p>
          <a:p>
            <a:pPr lvl="1"/>
            <a:r>
              <a:rPr lang="en-US" dirty="0" err="1"/>
              <a:t>Milestep</a:t>
            </a:r>
            <a:r>
              <a:rPr lang="en-US" dirty="0"/>
              <a:t> Sacco</a:t>
            </a:r>
          </a:p>
          <a:p>
            <a:pPr lvl="1"/>
            <a:r>
              <a:rPr lang="en-US" dirty="0"/>
              <a:t>Metro trans Crew Sacco</a:t>
            </a:r>
          </a:p>
          <a:p>
            <a:pPr lvl="1"/>
            <a:r>
              <a:rPr lang="en-US" dirty="0"/>
              <a:t>Baraka </a:t>
            </a:r>
            <a:r>
              <a:rPr lang="en-US" dirty="0" err="1"/>
              <a:t>Yetu</a:t>
            </a:r>
            <a:r>
              <a:rPr lang="en-US" dirty="0"/>
              <a:t> sacco</a:t>
            </a:r>
          </a:p>
          <a:p>
            <a:pPr lvl="1"/>
            <a:r>
              <a:rPr lang="en-US" dirty="0" err="1"/>
              <a:t>Secularm</a:t>
            </a:r>
            <a:r>
              <a:rPr lang="en-US" dirty="0"/>
              <a:t> Sacco</a:t>
            </a:r>
          </a:p>
          <a:p>
            <a:pPr lvl="1"/>
            <a:r>
              <a:rPr lang="en-US" dirty="0"/>
              <a:t>City </a:t>
            </a:r>
            <a:r>
              <a:rPr lang="en-US" dirty="0" err="1"/>
              <a:t>Hoppa</a:t>
            </a:r>
            <a:r>
              <a:rPr lang="en-US" dirty="0"/>
              <a:t> Ltd</a:t>
            </a:r>
          </a:p>
          <a:p>
            <a:pPr lvl="1"/>
            <a:r>
              <a:rPr lang="en-US" dirty="0" err="1"/>
              <a:t>MetroTrans</a:t>
            </a:r>
            <a:endParaRPr lang="en-US" dirty="0"/>
          </a:p>
          <a:p>
            <a:pPr lvl="1"/>
            <a:r>
              <a:rPr lang="en-US" dirty="0" err="1"/>
              <a:t>Embassava</a:t>
            </a:r>
            <a:r>
              <a:rPr lang="en-US" dirty="0"/>
              <a:t> Sacco</a:t>
            </a:r>
          </a:p>
          <a:p>
            <a:pPr lvl="1"/>
            <a:r>
              <a:rPr lang="en-US" dirty="0"/>
              <a:t>Lopha Multipurpose sacco</a:t>
            </a:r>
          </a:p>
        </p:txBody>
      </p:sp>
      <p:sp>
        <p:nvSpPr>
          <p:cNvPr id="6" name="Slide Number Placeholder 5">
            <a:extLst>
              <a:ext uri="{FF2B5EF4-FFF2-40B4-BE49-F238E27FC236}">
                <a16:creationId xmlns:a16="http://schemas.microsoft.com/office/drawing/2014/main" id="{7CD624B9-0C85-32A0-FF28-FF27995663FE}"/>
              </a:ext>
            </a:extLst>
          </p:cNvPr>
          <p:cNvSpPr>
            <a:spLocks noGrp="1"/>
          </p:cNvSpPr>
          <p:nvPr>
            <p:ph type="sldNum" sz="quarter" idx="12"/>
          </p:nvPr>
        </p:nvSpPr>
        <p:spPr/>
        <p:txBody>
          <a:bodyPr/>
          <a:lstStyle/>
          <a:p>
            <a:fld id="{174C6DE3-F3EF-42B8-B6CF-DA55CA4DF251}" type="slidenum">
              <a:rPr lang="en-US" smtClean="0"/>
              <a:pPr/>
              <a:t>11</a:t>
            </a:fld>
            <a:endParaRPr lang="en-US" dirty="0"/>
          </a:p>
        </p:txBody>
      </p:sp>
      <p:pic>
        <p:nvPicPr>
          <p:cNvPr id="11" name="Picture 10">
            <a:extLst>
              <a:ext uri="{FF2B5EF4-FFF2-40B4-BE49-F238E27FC236}">
                <a16:creationId xmlns:a16="http://schemas.microsoft.com/office/drawing/2014/main" id="{C9F36171-A54E-9074-19E3-9C0FE052B7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731837"/>
            <a:ext cx="3147333" cy="1935648"/>
          </a:xfrm>
          <a:prstGeom prst="rect">
            <a:avLst/>
          </a:prstGeom>
        </p:spPr>
      </p:pic>
      <p:pic>
        <p:nvPicPr>
          <p:cNvPr id="8" name="Picture 7">
            <a:extLst>
              <a:ext uri="{FF2B5EF4-FFF2-40B4-BE49-F238E27FC236}">
                <a16:creationId xmlns:a16="http://schemas.microsoft.com/office/drawing/2014/main" id="{28FDD925-9EE0-F3EF-5907-089CB3BA9F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5643" y="1466512"/>
            <a:ext cx="1371719" cy="1371719"/>
          </a:xfrm>
          <a:prstGeom prst="rect">
            <a:avLst/>
          </a:prstGeom>
        </p:spPr>
      </p:pic>
      <p:pic>
        <p:nvPicPr>
          <p:cNvPr id="12" name="Picture 11">
            <a:extLst>
              <a:ext uri="{FF2B5EF4-FFF2-40B4-BE49-F238E27FC236}">
                <a16:creationId xmlns:a16="http://schemas.microsoft.com/office/drawing/2014/main" id="{549ED3AD-E9C9-646F-1244-05AA1C8C97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9821" y="3124200"/>
            <a:ext cx="1828800" cy="1828800"/>
          </a:xfrm>
          <a:prstGeom prst="rect">
            <a:avLst/>
          </a:prstGeom>
        </p:spPr>
      </p:pic>
      <p:pic>
        <p:nvPicPr>
          <p:cNvPr id="14" name="Picture 13">
            <a:extLst>
              <a:ext uri="{FF2B5EF4-FFF2-40B4-BE49-F238E27FC236}">
                <a16:creationId xmlns:a16="http://schemas.microsoft.com/office/drawing/2014/main" id="{A728001F-379C-4EC4-84B7-61C5BC019E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35643" y="3322721"/>
            <a:ext cx="1828800" cy="1828800"/>
          </a:xfrm>
          <a:prstGeom prst="rect">
            <a:avLst/>
          </a:prstGeom>
        </p:spPr>
      </p:pic>
    </p:spTree>
    <p:extLst>
      <p:ext uri="{BB962C8B-B14F-4D97-AF65-F5344CB8AC3E}">
        <p14:creationId xmlns:p14="http://schemas.microsoft.com/office/powerpoint/2010/main" val="41797249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8B400-E667-672F-9140-A4B5A4F651D0}"/>
              </a:ext>
            </a:extLst>
          </p:cNvPr>
          <p:cNvSpPr>
            <a:spLocks noGrp="1"/>
          </p:cNvSpPr>
          <p:nvPr>
            <p:ph type="title"/>
          </p:nvPr>
        </p:nvSpPr>
        <p:spPr/>
        <p:txBody>
          <a:bodyPr/>
          <a:lstStyle/>
          <a:p>
            <a:r>
              <a:rPr lang="en-US" dirty="0"/>
              <a:t>Our Clients…</a:t>
            </a:r>
          </a:p>
        </p:txBody>
      </p:sp>
      <p:sp>
        <p:nvSpPr>
          <p:cNvPr id="3" name="Content Placeholder 2">
            <a:extLst>
              <a:ext uri="{FF2B5EF4-FFF2-40B4-BE49-F238E27FC236}">
                <a16:creationId xmlns:a16="http://schemas.microsoft.com/office/drawing/2014/main" id="{102E2503-F465-F0AE-3469-5E46E8628BE8}"/>
              </a:ext>
            </a:extLst>
          </p:cNvPr>
          <p:cNvSpPr>
            <a:spLocks noGrp="1"/>
          </p:cNvSpPr>
          <p:nvPr>
            <p:ph idx="1"/>
          </p:nvPr>
        </p:nvSpPr>
        <p:spPr/>
        <p:txBody>
          <a:bodyPr/>
          <a:lstStyle/>
          <a:p>
            <a:pPr lvl="1"/>
            <a:r>
              <a:rPr lang="en-US" dirty="0" err="1"/>
              <a:t>Ganaki</a:t>
            </a:r>
            <a:r>
              <a:rPr lang="en-US" dirty="0"/>
              <a:t> Sacco</a:t>
            </a:r>
          </a:p>
          <a:p>
            <a:pPr lvl="1"/>
            <a:r>
              <a:rPr lang="en-US" dirty="0"/>
              <a:t>K.M.O Sacco</a:t>
            </a:r>
          </a:p>
          <a:p>
            <a:pPr lvl="1"/>
            <a:r>
              <a:rPr lang="en-US" dirty="0"/>
              <a:t>Nyala vision Sacco</a:t>
            </a:r>
          </a:p>
          <a:p>
            <a:pPr lvl="1"/>
            <a:r>
              <a:rPr lang="en-US" dirty="0" err="1"/>
              <a:t>Sumeya</a:t>
            </a:r>
            <a:r>
              <a:rPr lang="en-US" dirty="0"/>
              <a:t> Integrated schools</a:t>
            </a:r>
          </a:p>
          <a:p>
            <a:pPr lvl="1"/>
            <a:r>
              <a:rPr lang="en-US" dirty="0"/>
              <a:t>K.M.O.S sacco</a:t>
            </a:r>
          </a:p>
          <a:p>
            <a:pPr lvl="1"/>
            <a:r>
              <a:rPr lang="en-US" dirty="0" err="1"/>
              <a:t>Southleigh</a:t>
            </a:r>
            <a:r>
              <a:rPr lang="en-US" dirty="0"/>
              <a:t> Supreme</a:t>
            </a:r>
          </a:p>
          <a:p>
            <a:pPr lvl="1"/>
            <a:r>
              <a:rPr lang="en-US" dirty="0" err="1"/>
              <a:t>NgumoLine</a:t>
            </a:r>
            <a:r>
              <a:rPr lang="en-US" dirty="0"/>
              <a:t> Sacco</a:t>
            </a:r>
          </a:p>
          <a:p>
            <a:pPr lvl="1"/>
            <a:endParaRPr lang="en-US" dirty="0"/>
          </a:p>
          <a:p>
            <a:endParaRPr lang="en-US" dirty="0"/>
          </a:p>
        </p:txBody>
      </p:sp>
      <p:sp>
        <p:nvSpPr>
          <p:cNvPr id="4" name="Date Placeholder 3">
            <a:extLst>
              <a:ext uri="{FF2B5EF4-FFF2-40B4-BE49-F238E27FC236}">
                <a16:creationId xmlns:a16="http://schemas.microsoft.com/office/drawing/2014/main" id="{981E038A-F245-5054-7708-AAC49EB21B01}"/>
              </a:ext>
            </a:extLst>
          </p:cNvPr>
          <p:cNvSpPr>
            <a:spLocks noGrp="1"/>
          </p:cNvSpPr>
          <p:nvPr>
            <p:ph type="dt" sz="half" idx="10"/>
          </p:nvPr>
        </p:nvSpPr>
        <p:spPr/>
        <p:txBody>
          <a:bodyPr/>
          <a:lstStyle/>
          <a:p>
            <a:pPr>
              <a:defRPr/>
            </a:pPr>
            <a:r>
              <a:rPr lang="en-US"/>
              <a:t>22-Mar-2012  Document Version 1.3</a:t>
            </a:r>
            <a:endParaRPr lang="en-US" dirty="0"/>
          </a:p>
        </p:txBody>
      </p:sp>
      <p:sp>
        <p:nvSpPr>
          <p:cNvPr id="5" name="Footer Placeholder 4">
            <a:extLst>
              <a:ext uri="{FF2B5EF4-FFF2-40B4-BE49-F238E27FC236}">
                <a16:creationId xmlns:a16="http://schemas.microsoft.com/office/drawing/2014/main" id="{EE02E970-47A7-AB8F-EE0B-3F56BCF3E05B}"/>
              </a:ext>
            </a:extLst>
          </p:cNvPr>
          <p:cNvSpPr>
            <a:spLocks noGrp="1"/>
          </p:cNvSpPr>
          <p:nvPr>
            <p:ph type="ftr" sz="quarter" idx="11"/>
          </p:nvPr>
        </p:nvSpPr>
        <p:spPr/>
        <p:txBody>
          <a:bodyPr/>
          <a:lstStyle/>
          <a:p>
            <a:pPr>
              <a:defRPr/>
            </a:pPr>
            <a:r>
              <a:rPr lang="en-US"/>
              <a:t> Q-STEP Techno Brain - Restricted </a:t>
            </a:r>
            <a:endParaRPr lang="en-US" dirty="0"/>
          </a:p>
        </p:txBody>
      </p:sp>
      <p:sp>
        <p:nvSpPr>
          <p:cNvPr id="6" name="Slide Number Placeholder 5">
            <a:extLst>
              <a:ext uri="{FF2B5EF4-FFF2-40B4-BE49-F238E27FC236}">
                <a16:creationId xmlns:a16="http://schemas.microsoft.com/office/drawing/2014/main" id="{6830A58A-4149-6BD3-D885-872CF9A5C40C}"/>
              </a:ext>
            </a:extLst>
          </p:cNvPr>
          <p:cNvSpPr>
            <a:spLocks noGrp="1"/>
          </p:cNvSpPr>
          <p:nvPr>
            <p:ph type="sldNum" sz="quarter" idx="12"/>
          </p:nvPr>
        </p:nvSpPr>
        <p:spPr/>
        <p:txBody>
          <a:bodyPr/>
          <a:lstStyle/>
          <a:p>
            <a:pPr>
              <a:defRPr/>
            </a:pPr>
            <a:fld id="{174C6DE3-F3EF-42B8-B6CF-DA55CA4DF251}" type="slidenum">
              <a:rPr lang="en-US" smtClean="0"/>
              <a:pPr>
                <a:defRPr/>
              </a:pPr>
              <a:t>12</a:t>
            </a:fld>
            <a:endParaRPr lang="en-US" dirty="0"/>
          </a:p>
        </p:txBody>
      </p:sp>
      <p:pic>
        <p:nvPicPr>
          <p:cNvPr id="7" name="Picture 6">
            <a:extLst>
              <a:ext uri="{FF2B5EF4-FFF2-40B4-BE49-F238E27FC236}">
                <a16:creationId xmlns:a16="http://schemas.microsoft.com/office/drawing/2014/main" id="{1CA3EDBC-A00C-C38F-302F-B95A9AAD7969}"/>
              </a:ext>
            </a:extLst>
          </p:cNvPr>
          <p:cNvPicPr>
            <a:picLocks noChangeAspect="1"/>
          </p:cNvPicPr>
          <p:nvPr/>
        </p:nvPicPr>
        <p:blipFill>
          <a:blip r:embed="rId2"/>
          <a:stretch>
            <a:fillRect/>
          </a:stretch>
        </p:blipFill>
        <p:spPr>
          <a:xfrm>
            <a:off x="3733800" y="990600"/>
            <a:ext cx="4700423" cy="2798307"/>
          </a:xfrm>
          <a:prstGeom prst="rect">
            <a:avLst/>
          </a:prstGeom>
        </p:spPr>
      </p:pic>
    </p:spTree>
    <p:extLst>
      <p:ext uri="{BB962C8B-B14F-4D97-AF65-F5344CB8AC3E}">
        <p14:creationId xmlns:p14="http://schemas.microsoft.com/office/powerpoint/2010/main" val="308907300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4754C-3B42-224D-F06C-2B58E2E8123A}"/>
              </a:ext>
            </a:extLst>
          </p:cNvPr>
          <p:cNvSpPr>
            <a:spLocks noGrp="1"/>
          </p:cNvSpPr>
          <p:nvPr>
            <p:ph type="title"/>
          </p:nvPr>
        </p:nvSpPr>
        <p:spPr/>
        <p:txBody>
          <a:bodyPr/>
          <a:lstStyle/>
          <a:p>
            <a:r>
              <a:rPr lang="en-US" dirty="0"/>
              <a:t>Our Clients</a:t>
            </a:r>
          </a:p>
        </p:txBody>
      </p:sp>
      <p:sp>
        <p:nvSpPr>
          <p:cNvPr id="9" name="Content Placeholder 8">
            <a:extLst>
              <a:ext uri="{FF2B5EF4-FFF2-40B4-BE49-F238E27FC236}">
                <a16:creationId xmlns:a16="http://schemas.microsoft.com/office/drawing/2014/main" id="{924D3A52-484C-9C3F-9BE2-3FC734E846B4}"/>
              </a:ext>
            </a:extLst>
          </p:cNvPr>
          <p:cNvSpPr>
            <a:spLocks noGrp="1"/>
          </p:cNvSpPr>
          <p:nvPr>
            <p:ph idx="1"/>
          </p:nvPr>
        </p:nvSpPr>
        <p:spPr>
          <a:xfrm>
            <a:off x="76200" y="731837"/>
            <a:ext cx="8229600" cy="5394326"/>
          </a:xfrm>
        </p:spPr>
        <p:txBody>
          <a:bodyPr/>
          <a:lstStyle/>
          <a:p>
            <a:pPr lvl="0"/>
            <a:r>
              <a:rPr lang="en-US" dirty="0"/>
              <a:t>Mobile banking and Related integrations</a:t>
            </a:r>
          </a:p>
          <a:p>
            <a:pPr lvl="1"/>
            <a:r>
              <a:rPr lang="en-US" dirty="0" err="1"/>
              <a:t>Mwalimu</a:t>
            </a:r>
            <a:r>
              <a:rPr lang="en-US" dirty="0"/>
              <a:t> National sacco </a:t>
            </a:r>
          </a:p>
          <a:p>
            <a:pPr lvl="1"/>
            <a:r>
              <a:rPr lang="en-US" dirty="0"/>
              <a:t>Bandari Sacco </a:t>
            </a:r>
          </a:p>
          <a:p>
            <a:pPr lvl="1"/>
            <a:r>
              <a:rPr lang="en-US" dirty="0"/>
              <a:t>Sheria Sacco </a:t>
            </a:r>
          </a:p>
          <a:p>
            <a:pPr lvl="0"/>
            <a:r>
              <a:rPr lang="en-US" dirty="0"/>
              <a:t>Atm Bridge</a:t>
            </a:r>
          </a:p>
          <a:p>
            <a:pPr lvl="1"/>
            <a:r>
              <a:rPr lang="en-US" dirty="0" err="1"/>
              <a:t>Mwalimu</a:t>
            </a:r>
            <a:r>
              <a:rPr lang="en-US" dirty="0"/>
              <a:t> National Sacco </a:t>
            </a:r>
          </a:p>
          <a:p>
            <a:pPr lvl="1"/>
            <a:r>
              <a:rPr lang="en-US" dirty="0"/>
              <a:t>Bandari Sacco </a:t>
            </a:r>
          </a:p>
          <a:p>
            <a:pPr lvl="1"/>
            <a:r>
              <a:rPr lang="en-US" dirty="0"/>
              <a:t>Chai sacco </a:t>
            </a:r>
          </a:p>
          <a:p>
            <a:pPr lvl="0"/>
            <a:r>
              <a:rPr lang="en-US" dirty="0"/>
              <a:t>Agency Banking and related integrations</a:t>
            </a:r>
          </a:p>
          <a:p>
            <a:pPr lvl="1"/>
            <a:r>
              <a:rPr lang="en-US" dirty="0"/>
              <a:t>Nyala Dairy Multipurpose cooperative</a:t>
            </a:r>
          </a:p>
          <a:p>
            <a:pPr lvl="1"/>
            <a:r>
              <a:rPr lang="en-US" dirty="0" err="1"/>
              <a:t>Mwalimu</a:t>
            </a:r>
            <a:r>
              <a:rPr lang="en-US" dirty="0"/>
              <a:t> National Sacco </a:t>
            </a:r>
          </a:p>
          <a:p>
            <a:pPr lvl="1"/>
            <a:r>
              <a:rPr lang="en-US" dirty="0" err="1"/>
              <a:t>Embassava</a:t>
            </a:r>
            <a:r>
              <a:rPr lang="en-US" dirty="0"/>
              <a:t> Sacco</a:t>
            </a:r>
          </a:p>
          <a:p>
            <a:pPr lvl="0"/>
            <a:r>
              <a:rPr lang="en-US" dirty="0"/>
              <a:t>Industrial integrations</a:t>
            </a:r>
          </a:p>
          <a:p>
            <a:pPr lvl="1"/>
            <a:r>
              <a:rPr lang="en-US" dirty="0"/>
              <a:t>British American Tobacco (BAT)</a:t>
            </a:r>
          </a:p>
          <a:p>
            <a:endParaRPr lang="en-US" dirty="0"/>
          </a:p>
        </p:txBody>
      </p:sp>
      <p:sp>
        <p:nvSpPr>
          <p:cNvPr id="6" name="Slide Number Placeholder 5">
            <a:extLst>
              <a:ext uri="{FF2B5EF4-FFF2-40B4-BE49-F238E27FC236}">
                <a16:creationId xmlns:a16="http://schemas.microsoft.com/office/drawing/2014/main" id="{7CD624B9-0C85-32A0-FF28-FF27995663FE}"/>
              </a:ext>
            </a:extLst>
          </p:cNvPr>
          <p:cNvSpPr>
            <a:spLocks noGrp="1"/>
          </p:cNvSpPr>
          <p:nvPr>
            <p:ph type="sldNum" sz="quarter" idx="12"/>
          </p:nvPr>
        </p:nvSpPr>
        <p:spPr/>
        <p:txBody>
          <a:bodyPr/>
          <a:lstStyle/>
          <a:p>
            <a:fld id="{174C6DE3-F3EF-42B8-B6CF-DA55CA4DF251}" type="slidenum">
              <a:rPr lang="en-US" smtClean="0"/>
              <a:pPr/>
              <a:t>13</a:t>
            </a:fld>
            <a:endParaRPr lang="en-US" dirty="0"/>
          </a:p>
        </p:txBody>
      </p:sp>
      <p:pic>
        <p:nvPicPr>
          <p:cNvPr id="11" name="Picture 10">
            <a:extLst>
              <a:ext uri="{FF2B5EF4-FFF2-40B4-BE49-F238E27FC236}">
                <a16:creationId xmlns:a16="http://schemas.microsoft.com/office/drawing/2014/main" id="{C9F36171-A54E-9074-19E3-9C0FE052B7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3267" y="609600"/>
            <a:ext cx="3147333" cy="1935648"/>
          </a:xfrm>
          <a:prstGeom prst="rect">
            <a:avLst/>
          </a:prstGeom>
        </p:spPr>
      </p:pic>
      <p:pic>
        <p:nvPicPr>
          <p:cNvPr id="4" name="Picture 3">
            <a:extLst>
              <a:ext uri="{FF2B5EF4-FFF2-40B4-BE49-F238E27FC236}">
                <a16:creationId xmlns:a16="http://schemas.microsoft.com/office/drawing/2014/main" id="{9E65F05D-944E-9D4A-3F3B-8FD80425A1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0700" y="3856634"/>
            <a:ext cx="1943100" cy="2220686"/>
          </a:xfrm>
          <a:prstGeom prst="rect">
            <a:avLst/>
          </a:prstGeom>
        </p:spPr>
      </p:pic>
      <p:pic>
        <p:nvPicPr>
          <p:cNvPr id="5" name="Picture 4">
            <a:extLst>
              <a:ext uri="{FF2B5EF4-FFF2-40B4-BE49-F238E27FC236}">
                <a16:creationId xmlns:a16="http://schemas.microsoft.com/office/drawing/2014/main" id="{D22791F7-636C-4AE1-D26E-CCC6A5EFF9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7054" y="2628900"/>
            <a:ext cx="2286000" cy="952500"/>
          </a:xfrm>
          <a:prstGeom prst="rect">
            <a:avLst/>
          </a:prstGeom>
        </p:spPr>
      </p:pic>
    </p:spTree>
    <p:extLst>
      <p:ext uri="{BB962C8B-B14F-4D97-AF65-F5344CB8AC3E}">
        <p14:creationId xmlns:p14="http://schemas.microsoft.com/office/powerpoint/2010/main" val="1839107971"/>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F66C0C-008C-B46B-B1AB-2BE1F0B9F85B}"/>
              </a:ext>
            </a:extLst>
          </p:cNvPr>
          <p:cNvSpPr txBox="1"/>
          <p:nvPr/>
        </p:nvSpPr>
        <p:spPr>
          <a:xfrm>
            <a:off x="3848100" y="6248400"/>
            <a:ext cx="1447800" cy="369332"/>
          </a:xfrm>
          <a:prstGeom prst="rect">
            <a:avLst/>
          </a:prstGeom>
          <a:noFill/>
        </p:spPr>
        <p:txBody>
          <a:bodyPr wrap="square" rtlCol="0">
            <a:spAutoFit/>
          </a:bodyPr>
          <a:lstStyle/>
          <a:p>
            <a:r>
              <a:rPr lang="en-US" dirty="0"/>
              <a:t>Paul Njoroge</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15F91E45204044B5591346FFDCB8DE" ma:contentTypeVersion="0" ma:contentTypeDescription="Create a new document." ma:contentTypeScope="" ma:versionID="477816e8aa288fff4b2cf9b2189ce96b">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AD1253-939B-4AFB-9297-2D03F051FC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14CE6AF8-0D34-4A4B-AA6A-C62E096AD6FF}">
  <ds:schemaRefs>
    <ds:schemaRef ds:uri="http://schemas.microsoft.com/office/2006/documentManagement/types"/>
    <ds:schemaRef ds:uri="http://purl.org/dc/dcmitype/"/>
    <ds:schemaRef ds:uri="http://purl.org/dc/elements/1.1/"/>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973A8C95-D299-41F1-9313-5011EE8C45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55775</TotalTime>
  <Words>640</Words>
  <Application>Microsoft Office PowerPoint</Application>
  <PresentationFormat>On-screen Show (4:3)</PresentationFormat>
  <Paragraphs>142</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Malgun Gothic</vt:lpstr>
      <vt:lpstr>Arial</vt:lpstr>
      <vt:lpstr>Calibri</vt:lpstr>
      <vt:lpstr>Cambria</vt:lpstr>
      <vt:lpstr>Segoe Condensed</vt:lpstr>
      <vt:lpstr>Wingdings</vt:lpstr>
      <vt:lpstr>Office Theme</vt:lpstr>
      <vt:lpstr>PowerPoint Presentation</vt:lpstr>
      <vt:lpstr>Who We Are</vt:lpstr>
      <vt:lpstr>What we offer</vt:lpstr>
      <vt:lpstr>Sacco Erp</vt:lpstr>
      <vt:lpstr>Registration Process</vt:lpstr>
      <vt:lpstr>Loan Application Process</vt:lpstr>
      <vt:lpstr>Loan Application Process ..</vt:lpstr>
      <vt:lpstr>Mobile Banking</vt:lpstr>
      <vt:lpstr>Agency Banking</vt:lpstr>
      <vt:lpstr>Security</vt:lpstr>
      <vt:lpstr>Our Clients</vt:lpstr>
      <vt:lpstr>Our Clients…</vt:lpstr>
      <vt:lpstr>Our Clients</vt:lpstr>
      <vt:lpstr>PowerPoint Presentation</vt:lpstr>
    </vt:vector>
  </TitlesOfParts>
  <Company>Techno Brain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Anand Mohan</dc:creator>
  <cp:lastModifiedBy>Paul Njoroge</cp:lastModifiedBy>
  <cp:revision>2620</cp:revision>
  <cp:lastPrinted>2016-09-07T14:23:05Z</cp:lastPrinted>
  <dcterms:created xsi:type="dcterms:W3CDTF">2011-11-15T10:17:45Z</dcterms:created>
  <dcterms:modified xsi:type="dcterms:W3CDTF">2025-07-03T08:30:28Z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0x0101003815F91E45204044B5591346FFDCB8DE</vt:lpwstr>
  </property>
</Properties>
</file>